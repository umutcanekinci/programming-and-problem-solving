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handoutMasterIdLst>
    <p:handoutMasterId r:id="rId35"/>
  </p:handoutMasterIdLst>
  <p:sldIdLst>
    <p:sldId id="296" r:id="rId2"/>
    <p:sldId id="297" r:id="rId3"/>
    <p:sldId id="301" r:id="rId4"/>
    <p:sldId id="324" r:id="rId5"/>
    <p:sldId id="298" r:id="rId6"/>
    <p:sldId id="302" r:id="rId7"/>
    <p:sldId id="299" r:id="rId8"/>
    <p:sldId id="286" r:id="rId9"/>
    <p:sldId id="303" r:id="rId10"/>
    <p:sldId id="304" r:id="rId11"/>
    <p:sldId id="307" r:id="rId12"/>
    <p:sldId id="330" r:id="rId13"/>
    <p:sldId id="317" r:id="rId14"/>
    <p:sldId id="327" r:id="rId15"/>
    <p:sldId id="326" r:id="rId16"/>
    <p:sldId id="305" r:id="rId17"/>
    <p:sldId id="308" r:id="rId18"/>
    <p:sldId id="309" r:id="rId19"/>
    <p:sldId id="310" r:id="rId20"/>
    <p:sldId id="312" r:id="rId21"/>
    <p:sldId id="328" r:id="rId22"/>
    <p:sldId id="313" r:id="rId23"/>
    <p:sldId id="314" r:id="rId24"/>
    <p:sldId id="315" r:id="rId25"/>
    <p:sldId id="316" r:id="rId26"/>
    <p:sldId id="318" r:id="rId27"/>
    <p:sldId id="331" r:id="rId28"/>
    <p:sldId id="320" r:id="rId29"/>
    <p:sldId id="319" r:id="rId30"/>
    <p:sldId id="322" r:id="rId31"/>
    <p:sldId id="332" r:id="rId32"/>
    <p:sldId id="333" r:id="rId33"/>
  </p:sldIdLst>
  <p:sldSz cx="9144000" cy="6858000" type="screen4x3"/>
  <p:notesSz cx="9144000" cy="6858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35" autoAdjust="0"/>
    <p:restoredTop sz="24757" autoAdjust="0"/>
  </p:normalViewPr>
  <p:slideViewPr>
    <p:cSldViewPr>
      <p:cViewPr varScale="1">
        <p:scale>
          <a:sx n="111" d="100"/>
          <a:sy n="111" d="100"/>
        </p:scale>
        <p:origin x="1350" y="96"/>
      </p:cViewPr>
      <p:guideLst>
        <p:guide orient="horz" pos="2160"/>
        <p:guide pos="2880"/>
      </p:guideLst>
    </p:cSldViewPr>
  </p:slideViewPr>
  <p:outlineViewPr>
    <p:cViewPr>
      <p:scale>
        <a:sx n="33" d="100"/>
        <a:sy n="33" d="100"/>
      </p:scale>
      <p:origin x="8"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4088D146-2F35-FC4B-B64E-C577ABA497C0}" type="datetimeFigureOut">
              <a:rPr lang="en-US" smtClean="0"/>
              <a:pPr/>
              <a:t>10/21/2025</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DD26CA24-E527-D746-A2FF-A17B17A7ECB7}" type="slidenum">
              <a:rPr lang="en-US" smtClean="0"/>
              <a:pPr/>
              <a:t>‹#›</a:t>
            </a:fld>
            <a:endParaRPr lang="en-US"/>
          </a:p>
        </p:txBody>
      </p:sp>
    </p:spTree>
    <p:extLst>
      <p:ext uri="{BB962C8B-B14F-4D97-AF65-F5344CB8AC3E}">
        <p14:creationId xmlns:p14="http://schemas.microsoft.com/office/powerpoint/2010/main" val="32651088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733E94C1-70F1-4112-A938-84039D6DBCCE}" type="datetimeFigureOut">
              <a:rPr lang="tr-TR" smtClean="0"/>
              <a:pPr/>
              <a:t>21.10.2025</a:t>
            </a:fld>
            <a:endParaRPr lang="tr-TR"/>
          </a:p>
        </p:txBody>
      </p:sp>
      <p:sp>
        <p:nvSpPr>
          <p:cNvPr id="4" name="3 Slayt Görüntüsü Yer Tutucusu"/>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B1F36713-D27E-4EEB-9EE5-055EE396FFBE}" type="slidenum">
              <a:rPr lang="tr-TR" smtClean="0"/>
              <a:pPr/>
              <a:t>‹#›</a:t>
            </a:fld>
            <a:endParaRPr lang="tr-TR"/>
          </a:p>
        </p:txBody>
      </p:sp>
    </p:spTree>
    <p:extLst>
      <p:ext uri="{BB962C8B-B14F-4D97-AF65-F5344CB8AC3E}">
        <p14:creationId xmlns:p14="http://schemas.microsoft.com/office/powerpoint/2010/main" val="27716094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a:t>
            </a:fld>
            <a:endParaRPr lang="tr-TR"/>
          </a:p>
        </p:txBody>
      </p:sp>
    </p:spTree>
    <p:extLst>
      <p:ext uri="{BB962C8B-B14F-4D97-AF65-F5344CB8AC3E}">
        <p14:creationId xmlns:p14="http://schemas.microsoft.com/office/powerpoint/2010/main" val="1595335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a:t>
            </a:fld>
            <a:endParaRPr lang="tr-TR"/>
          </a:p>
        </p:txBody>
      </p:sp>
    </p:spTree>
    <p:extLst>
      <p:ext uri="{BB962C8B-B14F-4D97-AF65-F5344CB8AC3E}">
        <p14:creationId xmlns:p14="http://schemas.microsoft.com/office/powerpoint/2010/main" val="3201739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3</a:t>
            </a:fld>
            <a:endParaRPr lang="tr-TR"/>
          </a:p>
        </p:txBody>
      </p:sp>
    </p:spTree>
    <p:extLst>
      <p:ext uri="{BB962C8B-B14F-4D97-AF65-F5344CB8AC3E}">
        <p14:creationId xmlns:p14="http://schemas.microsoft.com/office/powerpoint/2010/main" val="929141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4</a:t>
            </a:fld>
            <a:endParaRPr lang="tr-TR"/>
          </a:p>
        </p:txBody>
      </p:sp>
    </p:spTree>
    <p:extLst>
      <p:ext uri="{BB962C8B-B14F-4D97-AF65-F5344CB8AC3E}">
        <p14:creationId xmlns:p14="http://schemas.microsoft.com/office/powerpoint/2010/main" val="1371012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5</a:t>
            </a:fld>
            <a:endParaRPr lang="tr-TR"/>
          </a:p>
        </p:txBody>
      </p:sp>
    </p:spTree>
    <p:extLst>
      <p:ext uri="{BB962C8B-B14F-4D97-AF65-F5344CB8AC3E}">
        <p14:creationId xmlns:p14="http://schemas.microsoft.com/office/powerpoint/2010/main" val="2964522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6</a:t>
            </a:fld>
            <a:endParaRPr lang="tr-TR"/>
          </a:p>
        </p:txBody>
      </p:sp>
    </p:spTree>
    <p:extLst>
      <p:ext uri="{BB962C8B-B14F-4D97-AF65-F5344CB8AC3E}">
        <p14:creationId xmlns:p14="http://schemas.microsoft.com/office/powerpoint/2010/main" val="3659266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7</a:t>
            </a:fld>
            <a:endParaRPr lang="tr-TR"/>
          </a:p>
        </p:txBody>
      </p:sp>
    </p:spTree>
    <p:extLst>
      <p:ext uri="{BB962C8B-B14F-4D97-AF65-F5344CB8AC3E}">
        <p14:creationId xmlns:p14="http://schemas.microsoft.com/office/powerpoint/2010/main" val="3284302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8</a:t>
            </a:fld>
            <a:endParaRPr lang="tr-TR"/>
          </a:p>
        </p:txBody>
      </p:sp>
    </p:spTree>
    <p:extLst>
      <p:ext uri="{BB962C8B-B14F-4D97-AF65-F5344CB8AC3E}">
        <p14:creationId xmlns:p14="http://schemas.microsoft.com/office/powerpoint/2010/main" val="4020519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9</a:t>
            </a:fld>
            <a:endParaRPr lang="tr-TR"/>
          </a:p>
        </p:txBody>
      </p:sp>
    </p:spTree>
    <p:extLst>
      <p:ext uri="{BB962C8B-B14F-4D97-AF65-F5344CB8AC3E}">
        <p14:creationId xmlns:p14="http://schemas.microsoft.com/office/powerpoint/2010/main" val="815301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10</a:t>
            </a:fld>
            <a:endParaRPr lang="tr-TR"/>
          </a:p>
        </p:txBody>
      </p:sp>
    </p:spTree>
    <p:extLst>
      <p:ext uri="{BB962C8B-B14F-4D97-AF65-F5344CB8AC3E}">
        <p14:creationId xmlns:p14="http://schemas.microsoft.com/office/powerpoint/2010/main" val="3193283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11</a:t>
            </a:fld>
            <a:endParaRPr lang="tr-TR"/>
          </a:p>
        </p:txBody>
      </p:sp>
    </p:spTree>
    <p:extLst>
      <p:ext uri="{BB962C8B-B14F-4D97-AF65-F5344CB8AC3E}">
        <p14:creationId xmlns:p14="http://schemas.microsoft.com/office/powerpoint/2010/main" val="591351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12</a:t>
            </a:fld>
            <a:endParaRPr lang="tr-TR"/>
          </a:p>
        </p:txBody>
      </p:sp>
    </p:spTree>
    <p:extLst>
      <p:ext uri="{BB962C8B-B14F-4D97-AF65-F5344CB8AC3E}">
        <p14:creationId xmlns:p14="http://schemas.microsoft.com/office/powerpoint/2010/main" val="4252748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13</a:t>
            </a:fld>
            <a:endParaRPr lang="tr-TR"/>
          </a:p>
        </p:txBody>
      </p:sp>
    </p:spTree>
    <p:extLst>
      <p:ext uri="{BB962C8B-B14F-4D97-AF65-F5344CB8AC3E}">
        <p14:creationId xmlns:p14="http://schemas.microsoft.com/office/powerpoint/2010/main" val="1112880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14</a:t>
            </a:fld>
            <a:endParaRPr lang="tr-TR"/>
          </a:p>
        </p:txBody>
      </p:sp>
    </p:spTree>
    <p:extLst>
      <p:ext uri="{BB962C8B-B14F-4D97-AF65-F5344CB8AC3E}">
        <p14:creationId xmlns:p14="http://schemas.microsoft.com/office/powerpoint/2010/main" val="4279390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15</a:t>
            </a:fld>
            <a:endParaRPr lang="tr-TR"/>
          </a:p>
        </p:txBody>
      </p:sp>
    </p:spTree>
    <p:extLst>
      <p:ext uri="{BB962C8B-B14F-4D97-AF65-F5344CB8AC3E}">
        <p14:creationId xmlns:p14="http://schemas.microsoft.com/office/powerpoint/2010/main" val="612785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16</a:t>
            </a:fld>
            <a:endParaRPr lang="tr-TR"/>
          </a:p>
        </p:txBody>
      </p:sp>
    </p:spTree>
    <p:extLst>
      <p:ext uri="{BB962C8B-B14F-4D97-AF65-F5344CB8AC3E}">
        <p14:creationId xmlns:p14="http://schemas.microsoft.com/office/powerpoint/2010/main" val="1897568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17</a:t>
            </a:fld>
            <a:endParaRPr lang="tr-TR"/>
          </a:p>
        </p:txBody>
      </p:sp>
    </p:spTree>
    <p:extLst>
      <p:ext uri="{BB962C8B-B14F-4D97-AF65-F5344CB8AC3E}">
        <p14:creationId xmlns:p14="http://schemas.microsoft.com/office/powerpoint/2010/main" val="983048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18</a:t>
            </a:fld>
            <a:endParaRPr lang="tr-TR"/>
          </a:p>
        </p:txBody>
      </p:sp>
    </p:spTree>
    <p:extLst>
      <p:ext uri="{BB962C8B-B14F-4D97-AF65-F5344CB8AC3E}">
        <p14:creationId xmlns:p14="http://schemas.microsoft.com/office/powerpoint/2010/main" val="571358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19</a:t>
            </a:fld>
            <a:endParaRPr lang="tr-TR"/>
          </a:p>
        </p:txBody>
      </p:sp>
    </p:spTree>
    <p:extLst>
      <p:ext uri="{BB962C8B-B14F-4D97-AF65-F5344CB8AC3E}">
        <p14:creationId xmlns:p14="http://schemas.microsoft.com/office/powerpoint/2010/main" val="3730468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20</a:t>
            </a:fld>
            <a:endParaRPr lang="tr-TR"/>
          </a:p>
        </p:txBody>
      </p:sp>
    </p:spTree>
    <p:extLst>
      <p:ext uri="{BB962C8B-B14F-4D97-AF65-F5344CB8AC3E}">
        <p14:creationId xmlns:p14="http://schemas.microsoft.com/office/powerpoint/2010/main" val="2111710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21</a:t>
            </a:fld>
            <a:endParaRPr lang="tr-TR"/>
          </a:p>
        </p:txBody>
      </p:sp>
    </p:spTree>
    <p:extLst>
      <p:ext uri="{BB962C8B-B14F-4D97-AF65-F5344CB8AC3E}">
        <p14:creationId xmlns:p14="http://schemas.microsoft.com/office/powerpoint/2010/main" val="66233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22</a:t>
            </a:fld>
            <a:endParaRPr lang="tr-TR"/>
          </a:p>
        </p:txBody>
      </p:sp>
    </p:spTree>
    <p:extLst>
      <p:ext uri="{BB962C8B-B14F-4D97-AF65-F5344CB8AC3E}">
        <p14:creationId xmlns:p14="http://schemas.microsoft.com/office/powerpoint/2010/main" val="37600550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23</a:t>
            </a:fld>
            <a:endParaRPr lang="tr-TR"/>
          </a:p>
        </p:txBody>
      </p:sp>
    </p:spTree>
    <p:extLst>
      <p:ext uri="{BB962C8B-B14F-4D97-AF65-F5344CB8AC3E}">
        <p14:creationId xmlns:p14="http://schemas.microsoft.com/office/powerpoint/2010/main" val="3416641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24</a:t>
            </a:fld>
            <a:endParaRPr lang="tr-TR"/>
          </a:p>
        </p:txBody>
      </p:sp>
    </p:spTree>
    <p:extLst>
      <p:ext uri="{BB962C8B-B14F-4D97-AF65-F5344CB8AC3E}">
        <p14:creationId xmlns:p14="http://schemas.microsoft.com/office/powerpoint/2010/main" val="7919837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25</a:t>
            </a:fld>
            <a:endParaRPr lang="tr-TR"/>
          </a:p>
        </p:txBody>
      </p:sp>
    </p:spTree>
    <p:extLst>
      <p:ext uri="{BB962C8B-B14F-4D97-AF65-F5344CB8AC3E}">
        <p14:creationId xmlns:p14="http://schemas.microsoft.com/office/powerpoint/2010/main" val="291019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26</a:t>
            </a:fld>
            <a:endParaRPr lang="tr-TR"/>
          </a:p>
        </p:txBody>
      </p:sp>
    </p:spTree>
    <p:extLst>
      <p:ext uri="{BB962C8B-B14F-4D97-AF65-F5344CB8AC3E}">
        <p14:creationId xmlns:p14="http://schemas.microsoft.com/office/powerpoint/2010/main" val="3345119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27</a:t>
            </a:fld>
            <a:endParaRPr lang="tr-TR"/>
          </a:p>
        </p:txBody>
      </p:sp>
    </p:spTree>
    <p:extLst>
      <p:ext uri="{BB962C8B-B14F-4D97-AF65-F5344CB8AC3E}">
        <p14:creationId xmlns:p14="http://schemas.microsoft.com/office/powerpoint/2010/main" val="10260801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28</a:t>
            </a:fld>
            <a:endParaRPr lang="tr-TR"/>
          </a:p>
        </p:txBody>
      </p:sp>
    </p:spTree>
    <p:extLst>
      <p:ext uri="{BB962C8B-B14F-4D97-AF65-F5344CB8AC3E}">
        <p14:creationId xmlns:p14="http://schemas.microsoft.com/office/powerpoint/2010/main" val="7670246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29</a:t>
            </a:fld>
            <a:endParaRPr lang="tr-TR"/>
          </a:p>
        </p:txBody>
      </p:sp>
    </p:spTree>
    <p:extLst>
      <p:ext uri="{BB962C8B-B14F-4D97-AF65-F5344CB8AC3E}">
        <p14:creationId xmlns:p14="http://schemas.microsoft.com/office/powerpoint/2010/main" val="7356683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30</a:t>
            </a:fld>
            <a:endParaRPr lang="tr-TR"/>
          </a:p>
        </p:txBody>
      </p:sp>
    </p:spTree>
    <p:extLst>
      <p:ext uri="{BB962C8B-B14F-4D97-AF65-F5344CB8AC3E}">
        <p14:creationId xmlns:p14="http://schemas.microsoft.com/office/powerpoint/2010/main" val="20641234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b="1" dirty="0" err="1"/>
              <a:t>Swimlanes</a:t>
            </a:r>
            <a:endParaRPr lang="en-US" b="1" dirty="0"/>
          </a:p>
          <a:p>
            <a:r>
              <a:rPr lang="en-US" b="1" dirty="0"/>
              <a:t>Student</a:t>
            </a:r>
            <a:endParaRPr lang="en-US" dirty="0"/>
          </a:p>
          <a:p>
            <a:r>
              <a:rPr lang="en-US" b="1" dirty="0"/>
              <a:t>Print Operator</a:t>
            </a:r>
            <a:endParaRPr lang="en-US" dirty="0"/>
          </a:p>
          <a:p>
            <a:r>
              <a:rPr lang="en-US" b="1" dirty="0"/>
              <a:t>Cashier</a:t>
            </a:r>
            <a:endParaRPr lang="en-US" dirty="0"/>
          </a:p>
          <a:p>
            <a:r>
              <a:rPr lang="en-US" b="1" dirty="0"/>
              <a:t>Printer/System</a:t>
            </a:r>
            <a:r>
              <a:rPr lang="en-US" dirty="0"/>
              <a:t> (optional, to hold “Printer ready?” and “Print job” actions)</a:t>
            </a:r>
          </a:p>
          <a:p>
            <a:r>
              <a:rPr lang="en-US" b="1" dirty="0"/>
              <a:t>Step-by-step build</a:t>
            </a:r>
          </a:p>
          <a:p>
            <a:pPr marL="228600" indent="-228600">
              <a:buFont typeface="+mj-lt"/>
              <a:buAutoNum type="arabicPeriod"/>
            </a:pPr>
            <a:r>
              <a:rPr lang="en-US" b="1" dirty="0"/>
              <a:t>Initial node</a:t>
            </a:r>
            <a:r>
              <a:rPr lang="en-US" dirty="0"/>
              <a:t> → in </a:t>
            </a:r>
            <a:r>
              <a:rPr lang="en-US" b="1" dirty="0"/>
              <a:t>Student</a:t>
            </a:r>
            <a:r>
              <a:rPr lang="en-US" dirty="0"/>
              <a:t> lane → </a:t>
            </a:r>
            <a:r>
              <a:rPr lang="en-US" b="1" dirty="0"/>
              <a:t>Action:</a:t>
            </a:r>
            <a:r>
              <a:rPr lang="en-US" dirty="0"/>
              <a:t> </a:t>
            </a:r>
            <a:r>
              <a:rPr lang="en-US" i="1" dirty="0"/>
              <a:t>Arrive at print shop</a:t>
            </a:r>
            <a:r>
              <a:rPr lang="en-US" dirty="0"/>
              <a:t>.</a:t>
            </a:r>
          </a:p>
          <a:p>
            <a:pPr marL="228600" indent="-228600">
              <a:buFont typeface="+mj-lt"/>
              <a:buAutoNum type="arabicPeriod"/>
            </a:pPr>
            <a:r>
              <a:rPr lang="en-US" b="1" dirty="0"/>
              <a:t>Action (Student):</a:t>
            </a:r>
            <a:r>
              <a:rPr lang="en-US" dirty="0"/>
              <a:t> </a:t>
            </a:r>
            <a:r>
              <a:rPr lang="en-US" i="1" dirty="0"/>
              <a:t>Choose print options (pages, duplex, color)</a:t>
            </a:r>
            <a:r>
              <a:rPr lang="en-US" dirty="0"/>
              <a:t>.</a:t>
            </a:r>
          </a:p>
          <a:p>
            <a:pPr marL="228600" indent="-228600">
              <a:buFont typeface="+mj-lt"/>
              <a:buAutoNum type="arabicPeriod"/>
            </a:pPr>
            <a:r>
              <a:rPr lang="en-US" b="1" dirty="0"/>
              <a:t>Decision (Student):</a:t>
            </a:r>
            <a:r>
              <a:rPr lang="en-US" dirty="0"/>
              <a:t> </a:t>
            </a:r>
            <a:r>
              <a:rPr lang="en-US" i="1" dirty="0"/>
              <a:t>File format compatible?</a:t>
            </a:r>
            <a:endParaRPr lang="en-US" dirty="0"/>
          </a:p>
          <a:p>
            <a:pPr marL="685800" lvl="1" indent="-228600">
              <a:buFont typeface="Arial" panose="020B0604020202020204" pitchFamily="34" charset="0"/>
              <a:buChar char="•"/>
            </a:pPr>
            <a:r>
              <a:rPr lang="en-US" b="1" dirty="0"/>
              <a:t>[Yes]</a:t>
            </a:r>
            <a:r>
              <a:rPr lang="en-US" dirty="0"/>
              <a:t> → proceed to Step 5.</a:t>
            </a:r>
          </a:p>
          <a:p>
            <a:pPr marL="685800" lvl="1" indent="-228600">
              <a:buFont typeface="Arial" panose="020B0604020202020204" pitchFamily="34" charset="0"/>
              <a:buChar char="•"/>
            </a:pPr>
            <a:r>
              <a:rPr lang="en-US" b="1" dirty="0"/>
              <a:t>[No]</a:t>
            </a:r>
            <a:r>
              <a:rPr lang="en-US" dirty="0"/>
              <a:t> → edge to </a:t>
            </a:r>
            <a:r>
              <a:rPr lang="en-US" b="1" dirty="0"/>
              <a:t>Action (Student → Print Operator):</a:t>
            </a:r>
            <a:r>
              <a:rPr lang="en-US" dirty="0"/>
              <a:t> </a:t>
            </a:r>
            <a:r>
              <a:rPr lang="en-US" i="1" dirty="0"/>
              <a:t>Ask operator to convert file</a:t>
            </a:r>
            <a:r>
              <a:rPr lang="en-US" dirty="0"/>
              <a:t> → </a:t>
            </a:r>
            <a:r>
              <a:rPr lang="en-US" b="1" dirty="0"/>
              <a:t>Action (Print Operator):</a:t>
            </a:r>
            <a:r>
              <a:rPr lang="en-US" dirty="0"/>
              <a:t> </a:t>
            </a:r>
            <a:r>
              <a:rPr lang="en-US" i="1" dirty="0"/>
              <a:t>Convert file</a:t>
            </a:r>
            <a:r>
              <a:rPr lang="en-US" dirty="0"/>
              <a:t> → </a:t>
            </a:r>
            <a:r>
              <a:rPr lang="en-US" b="1" dirty="0"/>
              <a:t>Merge</a:t>
            </a:r>
            <a:r>
              <a:rPr lang="en-US" dirty="0"/>
              <a:t> back to </a:t>
            </a:r>
            <a:r>
              <a:rPr lang="en-US" i="1" dirty="0"/>
              <a:t>Choose print options</a:t>
            </a:r>
            <a:r>
              <a:rPr lang="en-US" dirty="0"/>
              <a:t> (Step 2).</a:t>
            </a:r>
          </a:p>
          <a:p>
            <a:pPr marL="0" indent="0">
              <a:buFont typeface="+mj-lt"/>
              <a:buNone/>
            </a:pPr>
            <a:r>
              <a:rPr lang="en-US" dirty="0"/>
              <a:t>This creates a </a:t>
            </a:r>
            <a:r>
              <a:rPr lang="en-US" b="1" dirty="0"/>
              <a:t>loop</a:t>
            </a:r>
            <a:r>
              <a:rPr lang="en-US" dirty="0"/>
              <a:t>: convert → return to option selection.</a:t>
            </a:r>
          </a:p>
          <a:p>
            <a:pPr marL="228600" indent="-228600">
              <a:buFont typeface="+mj-lt"/>
              <a:buAutoNum type="arabicPeriod" startAt="4"/>
            </a:pPr>
            <a:r>
              <a:rPr lang="en-US" dirty="0"/>
              <a:t>(Implicit in step 3’s [No] path) </a:t>
            </a:r>
            <a:r>
              <a:rPr lang="en-US" b="1" dirty="0"/>
              <a:t>Merge node</a:t>
            </a:r>
            <a:r>
              <a:rPr lang="en-US" dirty="0"/>
              <a:t> returns control to </a:t>
            </a:r>
            <a:r>
              <a:rPr lang="en-US" i="1" dirty="0"/>
              <a:t>Choose print options</a:t>
            </a:r>
            <a:r>
              <a:rPr lang="en-US" dirty="0"/>
              <a:t>.</a:t>
            </a:r>
          </a:p>
          <a:p>
            <a:pPr marL="228600" indent="-228600">
              <a:buFont typeface="+mj-lt"/>
              <a:buAutoNum type="arabicPeriod" startAt="4"/>
            </a:pPr>
            <a:r>
              <a:rPr lang="en-US" b="1" dirty="0"/>
              <a:t>Decision (Student):</a:t>
            </a:r>
            <a:r>
              <a:rPr lang="en-US" dirty="0"/>
              <a:t> </a:t>
            </a:r>
            <a:r>
              <a:rPr lang="en-US" i="1" dirty="0"/>
              <a:t>Change mind before paying?</a:t>
            </a:r>
            <a:endParaRPr lang="en-US" dirty="0"/>
          </a:p>
          <a:p>
            <a:pPr marL="685800" lvl="1" indent="-228600">
              <a:buFont typeface="Arial" panose="020B0604020202020204" pitchFamily="34" charset="0"/>
              <a:buChar char="•"/>
            </a:pPr>
            <a:r>
              <a:rPr lang="en-US" b="1" dirty="0"/>
              <a:t>[Yes]</a:t>
            </a:r>
            <a:r>
              <a:rPr lang="en-US" dirty="0"/>
              <a:t> → </a:t>
            </a:r>
            <a:r>
              <a:rPr lang="en-US" b="1" dirty="0"/>
              <a:t>Final node</a:t>
            </a:r>
            <a:r>
              <a:rPr lang="en-US" dirty="0"/>
              <a:t> (activity ends: request canceled).</a:t>
            </a:r>
          </a:p>
          <a:p>
            <a:pPr marL="685800" lvl="1" indent="-228600">
              <a:buFont typeface="Arial" panose="020B0604020202020204" pitchFamily="34" charset="0"/>
              <a:buChar char="•"/>
            </a:pPr>
            <a:r>
              <a:rPr lang="en-US" b="1" dirty="0"/>
              <a:t>[No]</a:t>
            </a:r>
            <a:r>
              <a:rPr lang="en-US" dirty="0"/>
              <a:t> → continue.</a:t>
            </a:r>
          </a:p>
          <a:p>
            <a:pPr marL="228600" indent="-228600">
              <a:buFont typeface="+mj-lt"/>
              <a:buAutoNum type="arabicPeriod" startAt="4"/>
            </a:pPr>
            <a:r>
              <a:rPr lang="en-US" b="1" dirty="0"/>
              <a:t>Fork node</a:t>
            </a:r>
            <a:r>
              <a:rPr lang="en-US" dirty="0"/>
              <a:t> (parallel start): two branches run </a:t>
            </a:r>
            <a:r>
              <a:rPr lang="en-US" b="1" dirty="0"/>
              <a:t>concurrently</a:t>
            </a:r>
            <a:r>
              <a:rPr lang="en-US" dirty="0"/>
              <a:t> and must both complete before printing:</a:t>
            </a:r>
          </a:p>
          <a:p>
            <a:pPr marL="685800" lvl="1" indent="-228600">
              <a:buFont typeface="Arial" panose="020B0604020202020204" pitchFamily="34" charset="0"/>
              <a:buChar char="•"/>
            </a:pPr>
            <a:r>
              <a:rPr lang="en-US" b="1" dirty="0"/>
              <a:t>Branch A – Print Operator lane:</a:t>
            </a:r>
            <a:br>
              <a:rPr lang="en-US" dirty="0"/>
            </a:br>
            <a:r>
              <a:rPr lang="en-US" b="1" dirty="0"/>
              <a:t>Action:</a:t>
            </a:r>
            <a:r>
              <a:rPr lang="en-US" dirty="0"/>
              <a:t> </a:t>
            </a:r>
            <a:r>
              <a:rPr lang="en-US" i="1" dirty="0"/>
              <a:t>Ensure printer is ready (paper/toner)</a:t>
            </a:r>
            <a:r>
              <a:rPr lang="en-US" dirty="0"/>
              <a:t> → </a:t>
            </a:r>
            <a:r>
              <a:rPr lang="en-US" b="1" dirty="0"/>
              <a:t>Action or Decision (Printer/System):</a:t>
            </a:r>
            <a:r>
              <a:rPr lang="en-US" dirty="0"/>
              <a:t> </a:t>
            </a:r>
            <a:r>
              <a:rPr lang="en-US" i="1" dirty="0"/>
              <a:t>Printer ready confirmed</a:t>
            </a:r>
            <a:r>
              <a:rPr lang="en-US" dirty="0"/>
              <a:t>.</a:t>
            </a:r>
          </a:p>
          <a:p>
            <a:pPr marL="685800" lvl="1" indent="-228600">
              <a:buFont typeface="Arial" panose="020B0604020202020204" pitchFamily="34" charset="0"/>
              <a:buChar char="•"/>
            </a:pPr>
            <a:r>
              <a:rPr lang="en-US" b="1" dirty="0"/>
              <a:t>Branch B – Cashier lane:</a:t>
            </a:r>
            <a:br>
              <a:rPr lang="en-US" dirty="0"/>
            </a:br>
            <a:r>
              <a:rPr lang="en-US" b="1" dirty="0"/>
              <a:t>Action:</a:t>
            </a:r>
            <a:r>
              <a:rPr lang="en-US" dirty="0"/>
              <a:t> </a:t>
            </a:r>
            <a:r>
              <a:rPr lang="en-US" i="1" dirty="0"/>
              <a:t>Collect payment</a:t>
            </a:r>
            <a:r>
              <a:rPr lang="en-US" dirty="0"/>
              <a:t> → </a:t>
            </a:r>
            <a:r>
              <a:rPr lang="en-US" b="1" dirty="0"/>
              <a:t>Decision:</a:t>
            </a:r>
            <a:r>
              <a:rPr lang="en-US" dirty="0"/>
              <a:t> </a:t>
            </a:r>
            <a:r>
              <a:rPr lang="en-US" i="1" dirty="0"/>
              <a:t>Payment successful?</a:t>
            </a:r>
            <a:endParaRPr lang="en-US" dirty="0"/>
          </a:p>
          <a:p>
            <a:pPr marL="1143000" lvl="2" indent="-228600">
              <a:buFont typeface="Arial" panose="020B0604020202020204" pitchFamily="34" charset="0"/>
              <a:buChar char="•"/>
            </a:pPr>
            <a:r>
              <a:rPr lang="en-US" b="1" dirty="0"/>
              <a:t>[No]</a:t>
            </a:r>
            <a:r>
              <a:rPr lang="en-US" dirty="0"/>
              <a:t> → </a:t>
            </a:r>
            <a:r>
              <a:rPr lang="en-US" b="1" dirty="0"/>
              <a:t>Final node</a:t>
            </a:r>
            <a:r>
              <a:rPr lang="en-US" dirty="0"/>
              <a:t> (activity ends—no printing).</a:t>
            </a:r>
          </a:p>
          <a:p>
            <a:pPr marL="1143000" lvl="2" indent="-228600">
              <a:buFont typeface="Arial" panose="020B0604020202020204" pitchFamily="34" charset="0"/>
              <a:buChar char="•"/>
            </a:pPr>
            <a:r>
              <a:rPr lang="en-US" b="1" dirty="0"/>
              <a:t>[Yes]</a:t>
            </a:r>
            <a:r>
              <a:rPr lang="en-US" dirty="0"/>
              <a:t> → </a:t>
            </a:r>
            <a:r>
              <a:rPr lang="en-US" i="1" dirty="0"/>
              <a:t>Payment recorded</a:t>
            </a:r>
            <a:r>
              <a:rPr lang="en-US" dirty="0"/>
              <a:t>.</a:t>
            </a:r>
          </a:p>
          <a:p>
            <a:pPr marL="228600" indent="-228600">
              <a:buFont typeface="+mj-lt"/>
              <a:buAutoNum type="arabicPeriod" startAt="4"/>
            </a:pPr>
            <a:r>
              <a:rPr lang="en-US" b="1" dirty="0"/>
              <a:t>Join node</a:t>
            </a:r>
            <a:r>
              <a:rPr lang="en-US" dirty="0"/>
              <a:t>: waits for </a:t>
            </a:r>
            <a:r>
              <a:rPr lang="en-US" b="1" dirty="0"/>
              <a:t>both</a:t>
            </a:r>
            <a:r>
              <a:rPr lang="en-US" dirty="0"/>
              <a:t> tokens:</a:t>
            </a:r>
          </a:p>
          <a:p>
            <a:pPr marL="685800" lvl="1" indent="-228600">
              <a:buFont typeface="Arial" panose="020B0604020202020204" pitchFamily="34" charset="0"/>
              <a:buChar char="•"/>
            </a:pPr>
            <a:r>
              <a:rPr lang="en-US" dirty="0"/>
              <a:t>From </a:t>
            </a:r>
            <a:r>
              <a:rPr lang="en-US" b="1" dirty="0"/>
              <a:t>Branch A:</a:t>
            </a:r>
            <a:r>
              <a:rPr lang="en-US" dirty="0"/>
              <a:t> </a:t>
            </a:r>
            <a:r>
              <a:rPr lang="en-US" i="1" dirty="0"/>
              <a:t>Printer ready</a:t>
            </a:r>
            <a:endParaRPr lang="en-US" dirty="0"/>
          </a:p>
          <a:p>
            <a:pPr marL="685800" lvl="1" indent="-228600">
              <a:buFont typeface="Arial" panose="020B0604020202020204" pitchFamily="34" charset="0"/>
              <a:buChar char="•"/>
            </a:pPr>
            <a:r>
              <a:rPr lang="en-US" dirty="0"/>
              <a:t>From </a:t>
            </a:r>
            <a:r>
              <a:rPr lang="en-US" b="1" dirty="0"/>
              <a:t>Branch B:</a:t>
            </a:r>
            <a:r>
              <a:rPr lang="en-US" dirty="0"/>
              <a:t> </a:t>
            </a:r>
            <a:r>
              <a:rPr lang="en-US" i="1" dirty="0"/>
              <a:t>Payment recorded</a:t>
            </a:r>
            <a:br>
              <a:rPr lang="en-US" dirty="0"/>
            </a:br>
            <a:r>
              <a:rPr lang="en-US" dirty="0"/>
              <a:t>Only when both are done, flow continues.</a:t>
            </a:r>
          </a:p>
          <a:p>
            <a:pPr marL="228600" indent="-228600">
              <a:buFont typeface="+mj-lt"/>
              <a:buAutoNum type="arabicPeriod" startAt="4"/>
            </a:pPr>
            <a:r>
              <a:rPr lang="en-US" b="1" dirty="0"/>
              <a:t>Action (Print Operator):</a:t>
            </a:r>
            <a:r>
              <a:rPr lang="en-US" dirty="0"/>
              <a:t> </a:t>
            </a:r>
            <a:r>
              <a:rPr lang="en-US" i="1" dirty="0"/>
              <a:t>Start print job</a:t>
            </a:r>
            <a:r>
              <a:rPr lang="en-US" dirty="0"/>
              <a:t>.</a:t>
            </a:r>
          </a:p>
          <a:p>
            <a:pPr marL="228600" indent="-228600">
              <a:buFont typeface="+mj-lt"/>
              <a:buAutoNum type="arabicPeriod" startAt="4"/>
            </a:pPr>
            <a:r>
              <a:rPr lang="en-US" b="1" dirty="0"/>
              <a:t>Decision (Printer/System):</a:t>
            </a:r>
            <a:r>
              <a:rPr lang="en-US" dirty="0"/>
              <a:t> </a:t>
            </a:r>
            <a:r>
              <a:rPr lang="en-US" i="1" dirty="0"/>
              <a:t>Recoverable printer error?</a:t>
            </a:r>
            <a:endParaRPr lang="en-US" dirty="0"/>
          </a:p>
          <a:p>
            <a:pPr marL="685800" lvl="1" indent="-228600">
              <a:buFont typeface="Arial" panose="020B0604020202020204" pitchFamily="34" charset="0"/>
              <a:buChar char="•"/>
            </a:pPr>
            <a:r>
              <a:rPr lang="en-US" b="1" dirty="0"/>
              <a:t>[No error]</a:t>
            </a:r>
            <a:r>
              <a:rPr lang="en-US" dirty="0"/>
              <a:t> → go to Step 12.</a:t>
            </a:r>
          </a:p>
          <a:p>
            <a:pPr marL="685800" lvl="1" indent="-228600">
              <a:buFont typeface="Arial" panose="020B0604020202020204" pitchFamily="34" charset="0"/>
              <a:buChar char="•"/>
            </a:pPr>
            <a:r>
              <a:rPr lang="en-US" b="1" dirty="0"/>
              <a:t>[Yes]</a:t>
            </a:r>
            <a:r>
              <a:rPr lang="en-US" dirty="0"/>
              <a:t> → go to Step 10.</a:t>
            </a:r>
          </a:p>
          <a:p>
            <a:pPr marL="685800" lvl="1" indent="-228600">
              <a:buFont typeface="Arial" panose="020B0604020202020204" pitchFamily="34" charset="0"/>
              <a:buChar char="•"/>
            </a:pPr>
            <a:r>
              <a:rPr lang="en-US" b="1" dirty="0"/>
              <a:t>[Not recoverable]</a:t>
            </a:r>
            <a:r>
              <a:rPr lang="en-US" dirty="0"/>
              <a:t> → go to Step 11.</a:t>
            </a:r>
          </a:p>
          <a:p>
            <a:pPr marL="0" indent="0">
              <a:buFont typeface="+mj-lt"/>
              <a:buNone/>
            </a:pPr>
            <a:r>
              <a:rPr lang="en-US" dirty="0"/>
              <a:t>You can model this as a single decision with guards </a:t>
            </a:r>
            <a:r>
              <a:rPr lang="en-US" b="1" dirty="0"/>
              <a:t>[no error] / [recoverable error] / [not recoverable]</a:t>
            </a:r>
            <a:r>
              <a:rPr lang="en-US" dirty="0"/>
              <a:t>, or as two sequential decisions (error? then recoverable?).</a:t>
            </a:r>
          </a:p>
          <a:p>
            <a:pPr marL="228600" indent="-228600">
              <a:buFont typeface="+mj-lt"/>
              <a:buAutoNum type="arabicPeriod" startAt="10"/>
            </a:pPr>
            <a:r>
              <a:rPr lang="en-US" b="1" dirty="0"/>
              <a:t>Action (Print Operator):</a:t>
            </a:r>
            <a:r>
              <a:rPr lang="en-US" dirty="0"/>
              <a:t> </a:t>
            </a:r>
            <a:r>
              <a:rPr lang="en-US" i="1" dirty="0"/>
              <a:t>Attempt fix (e.g., clear paper jam)</a:t>
            </a:r>
            <a:r>
              <a:rPr lang="en-US" dirty="0"/>
              <a:t> → </a:t>
            </a:r>
            <a:r>
              <a:rPr lang="en-US" b="1" dirty="0"/>
              <a:t>Decision:</a:t>
            </a:r>
            <a:r>
              <a:rPr lang="en-US" dirty="0"/>
              <a:t> </a:t>
            </a:r>
            <a:r>
              <a:rPr lang="en-US" i="1" dirty="0"/>
              <a:t>Fix successful?</a:t>
            </a:r>
            <a:endParaRPr lang="en-US" dirty="0"/>
          </a:p>
          <a:p>
            <a:pPr marL="228600" indent="-228600">
              <a:buFont typeface="Arial" panose="020B0604020202020204" pitchFamily="34" charset="0"/>
              <a:buChar char="•"/>
            </a:pPr>
            <a:r>
              <a:rPr lang="en-US" b="1" dirty="0"/>
              <a:t>[Yes]</a:t>
            </a:r>
            <a:r>
              <a:rPr lang="en-US" dirty="0"/>
              <a:t> → </a:t>
            </a:r>
            <a:r>
              <a:rPr lang="en-US" b="1" dirty="0"/>
              <a:t>Merge</a:t>
            </a:r>
            <a:r>
              <a:rPr lang="en-US" dirty="0"/>
              <a:t> back to </a:t>
            </a:r>
            <a:r>
              <a:rPr lang="en-US" i="1" dirty="0"/>
              <a:t>Continue printing</a:t>
            </a:r>
            <a:r>
              <a:rPr lang="en-US" dirty="0"/>
              <a:t> (Step 12).</a:t>
            </a:r>
          </a:p>
          <a:p>
            <a:pPr marL="228600" indent="-228600">
              <a:buFont typeface="Arial" panose="020B0604020202020204" pitchFamily="34" charset="0"/>
              <a:buChar char="•"/>
            </a:pPr>
            <a:r>
              <a:rPr lang="en-US" b="1" dirty="0"/>
              <a:t>[No]</a:t>
            </a:r>
            <a:r>
              <a:rPr lang="en-US" dirty="0"/>
              <a:t> → go to Step 11.</a:t>
            </a:r>
          </a:p>
          <a:p>
            <a:pPr marL="228600" indent="-228600">
              <a:buFont typeface="+mj-lt"/>
              <a:buAutoNum type="arabicPeriod" startAt="11"/>
            </a:pPr>
            <a:r>
              <a:rPr lang="en-US" b="1" dirty="0"/>
              <a:t>Action (Cashier):</a:t>
            </a:r>
            <a:r>
              <a:rPr lang="en-US" dirty="0"/>
              <a:t> </a:t>
            </a:r>
            <a:r>
              <a:rPr lang="en-US" i="1" dirty="0"/>
              <a:t>Issue refund</a:t>
            </a:r>
            <a:r>
              <a:rPr lang="en-US" dirty="0"/>
              <a:t> → </a:t>
            </a:r>
            <a:r>
              <a:rPr lang="en-US" b="1" dirty="0"/>
              <a:t>Final flow node</a:t>
            </a:r>
            <a:r>
              <a:rPr lang="en-US" dirty="0"/>
              <a:t> (🎯 </a:t>
            </a:r>
            <a:r>
              <a:rPr lang="en-US" i="1" dirty="0"/>
              <a:t>final flow</a:t>
            </a:r>
            <a:r>
              <a:rPr lang="en-US" dirty="0"/>
              <a:t> ends only this exceptional path; other flows, if any, may continue—but here it effectively stops the main scenario since printing can’t proceed).</a:t>
            </a:r>
          </a:p>
          <a:p>
            <a:pPr marL="228600" indent="-228600">
              <a:buFont typeface="+mj-lt"/>
              <a:buAutoNum type="arabicPeriod" startAt="11"/>
            </a:pPr>
            <a:r>
              <a:rPr lang="en-US" b="1" dirty="0"/>
              <a:t>Action (Printer/System):</a:t>
            </a:r>
            <a:r>
              <a:rPr lang="en-US" dirty="0"/>
              <a:t> </a:t>
            </a:r>
            <a:r>
              <a:rPr lang="en-US" i="1" dirty="0"/>
              <a:t>Printing completes successfully</a:t>
            </a:r>
            <a:r>
              <a:rPr lang="en-US" dirty="0"/>
              <a:t>.</a:t>
            </a:r>
          </a:p>
          <a:p>
            <a:pPr marL="228600" indent="-228600">
              <a:buFont typeface="+mj-lt"/>
              <a:buAutoNum type="arabicPeriod" startAt="11"/>
            </a:pPr>
            <a:r>
              <a:rPr lang="en-US" b="1" dirty="0"/>
              <a:t>Action (Student):</a:t>
            </a:r>
            <a:r>
              <a:rPr lang="en-US" dirty="0"/>
              <a:t> </a:t>
            </a:r>
            <a:r>
              <a:rPr lang="en-US" i="1" dirty="0"/>
              <a:t>Collect printed pages</a:t>
            </a:r>
            <a:r>
              <a:rPr lang="en-US" dirty="0"/>
              <a:t>.</a:t>
            </a:r>
          </a:p>
          <a:p>
            <a:pPr marL="228600" indent="-228600">
              <a:buFont typeface="+mj-lt"/>
              <a:buAutoNum type="arabicPeriod" startAt="11"/>
            </a:pPr>
            <a:r>
              <a:rPr lang="en-US" b="1" dirty="0"/>
              <a:t>Activity Final node (solid bullseye):</a:t>
            </a:r>
            <a:r>
              <a:rPr lang="en-US" dirty="0"/>
              <a:t> </a:t>
            </a:r>
            <a:r>
              <a:rPr lang="en-US" i="1" dirty="0"/>
              <a:t>Process ends successfully</a:t>
            </a:r>
            <a:r>
              <a:rPr lang="en-US" dirty="0"/>
              <a:t>.</a:t>
            </a:r>
          </a:p>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31</a:t>
            </a:fld>
            <a:endParaRPr lang="tr-TR"/>
          </a:p>
        </p:txBody>
      </p:sp>
    </p:spTree>
    <p:extLst>
      <p:ext uri="{BB962C8B-B14F-4D97-AF65-F5344CB8AC3E}">
        <p14:creationId xmlns:p14="http://schemas.microsoft.com/office/powerpoint/2010/main" val="27664081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b="1"/>
              <a:t>Swimlanes</a:t>
            </a:r>
          </a:p>
          <a:p>
            <a:r>
              <a:rPr lang="en-US" b="1"/>
              <a:t>Student</a:t>
            </a:r>
            <a:endParaRPr lang="en-US"/>
          </a:p>
          <a:p>
            <a:r>
              <a:rPr lang="en-US" b="1"/>
              <a:t>Advisor</a:t>
            </a:r>
            <a:endParaRPr lang="en-US"/>
          </a:p>
          <a:p>
            <a:r>
              <a:rPr lang="en-US" b="1"/>
              <a:t>Accounting Office</a:t>
            </a:r>
            <a:endParaRPr lang="en-US"/>
          </a:p>
          <a:p>
            <a:r>
              <a:rPr lang="en-US" b="1"/>
              <a:t>Registrar</a:t>
            </a:r>
            <a:endParaRPr lang="en-US"/>
          </a:p>
          <a:p>
            <a:r>
              <a:rPr lang="en-US" b="1"/>
              <a:t>Step-by-step build</a:t>
            </a:r>
          </a:p>
          <a:p>
            <a:pPr marL="228600" indent="-228600">
              <a:buFont typeface="+mj-lt"/>
              <a:buAutoNum type="arabicPeriod"/>
            </a:pPr>
            <a:r>
              <a:rPr lang="en-US" b="1"/>
              <a:t>Initial node</a:t>
            </a:r>
            <a:r>
              <a:rPr lang="en-US"/>
              <a:t> → </a:t>
            </a:r>
            <a:r>
              <a:rPr lang="en-US" b="1"/>
              <a:t>Action (Student):</a:t>
            </a:r>
            <a:r>
              <a:rPr lang="en-US"/>
              <a:t> </a:t>
            </a:r>
            <a:r>
              <a:rPr lang="en-US" i="1"/>
              <a:t>Prepare to register</a:t>
            </a:r>
            <a:r>
              <a:rPr lang="en-US"/>
              <a:t>.</a:t>
            </a:r>
          </a:p>
          <a:p>
            <a:pPr marL="228600" indent="-228600">
              <a:buFont typeface="+mj-lt"/>
              <a:buAutoNum type="arabicPeriod"/>
            </a:pPr>
            <a:r>
              <a:rPr lang="en-US" b="1"/>
              <a:t>Action (Student):</a:t>
            </a:r>
            <a:r>
              <a:rPr lang="en-US"/>
              <a:t> </a:t>
            </a:r>
            <a:r>
              <a:rPr lang="en-US" i="1"/>
              <a:t>Select courses</a:t>
            </a:r>
            <a:r>
              <a:rPr lang="en-US"/>
              <a:t>.</a:t>
            </a:r>
          </a:p>
          <a:p>
            <a:pPr marL="228600" indent="-228600">
              <a:buFont typeface="+mj-lt"/>
              <a:buAutoNum type="arabicPeriod"/>
            </a:pPr>
            <a:r>
              <a:rPr lang="en-US" b="1"/>
              <a:t>Decision (Student):</a:t>
            </a:r>
            <a:r>
              <a:rPr lang="en-US"/>
              <a:t> </a:t>
            </a:r>
            <a:r>
              <a:rPr lang="en-US" i="1"/>
              <a:t>Total credits exceed regular limit?</a:t>
            </a:r>
            <a:endParaRPr lang="en-US"/>
          </a:p>
          <a:p>
            <a:pPr marL="685800" lvl="1" indent="-228600">
              <a:buFont typeface="Arial" panose="020B0604020202020204" pitchFamily="34" charset="0"/>
              <a:buChar char="•"/>
            </a:pPr>
            <a:r>
              <a:rPr lang="en-US" b="1"/>
              <a:t>[Yes]</a:t>
            </a:r>
            <a:r>
              <a:rPr lang="en-US"/>
              <a:t> → </a:t>
            </a:r>
            <a:r>
              <a:rPr lang="en-US" b="1"/>
              <a:t>Action (Student):</a:t>
            </a:r>
            <a:r>
              <a:rPr lang="en-US"/>
              <a:t> </a:t>
            </a:r>
            <a:r>
              <a:rPr lang="en-US" i="1"/>
              <a:t>Prepare overload petition</a:t>
            </a:r>
            <a:r>
              <a:rPr lang="en-US"/>
              <a:t>.</a:t>
            </a:r>
          </a:p>
          <a:p>
            <a:pPr marL="685800" lvl="1" indent="-228600">
              <a:buFont typeface="Arial" panose="020B0604020202020204" pitchFamily="34" charset="0"/>
              <a:buChar char="•"/>
            </a:pPr>
            <a:r>
              <a:rPr lang="en-US" b="1"/>
              <a:t>[No]</a:t>
            </a:r>
            <a:r>
              <a:rPr lang="en-US"/>
              <a:t> → skip petition.</a:t>
            </a:r>
            <a:br>
              <a:rPr lang="en-US"/>
            </a:br>
            <a:r>
              <a:rPr lang="en-US"/>
              <a:t>→ </a:t>
            </a:r>
            <a:r>
              <a:rPr lang="en-US" b="1"/>
              <a:t>Merge</a:t>
            </a:r>
            <a:r>
              <a:rPr lang="en-US"/>
              <a:t> back to a single flow.</a:t>
            </a:r>
          </a:p>
          <a:p>
            <a:pPr marL="228600" indent="-228600">
              <a:buFont typeface="+mj-lt"/>
              <a:buAutoNum type="arabicPeriod"/>
            </a:pPr>
            <a:r>
              <a:rPr lang="en-US" b="1"/>
              <a:t>Action (Student):</a:t>
            </a:r>
            <a:r>
              <a:rPr lang="en-US"/>
              <a:t> </a:t>
            </a:r>
            <a:r>
              <a:rPr lang="en-US" i="1"/>
              <a:t>Submit registration request to advisor</a:t>
            </a:r>
            <a:r>
              <a:rPr lang="en-US"/>
              <a:t>.</a:t>
            </a:r>
          </a:p>
          <a:p>
            <a:pPr marL="228600" indent="-228600">
              <a:buFont typeface="+mj-lt"/>
              <a:buAutoNum type="arabicPeriod"/>
            </a:pPr>
            <a:r>
              <a:rPr lang="en-US" b="1"/>
              <a:t>Fork node</a:t>
            </a:r>
            <a:r>
              <a:rPr lang="en-US"/>
              <a:t> (parallel start) — two branches run </a:t>
            </a:r>
            <a:r>
              <a:rPr lang="en-US" b="1"/>
              <a:t>concurrently</a:t>
            </a:r>
            <a:r>
              <a:rPr lang="en-US"/>
              <a:t> after submission:</a:t>
            </a:r>
          </a:p>
          <a:p>
            <a:pPr marL="228600" indent="-228600">
              <a:buFont typeface="+mj-lt"/>
              <a:buAutoNum type="arabicPeriod"/>
            </a:pPr>
            <a:r>
              <a:rPr lang="en-US" b="1"/>
              <a:t>Branch A – Advisor lane</a:t>
            </a:r>
            <a:br>
              <a:rPr lang="en-US"/>
            </a:br>
            <a:r>
              <a:rPr lang="en-US"/>
              <a:t>5A. </a:t>
            </a:r>
            <a:r>
              <a:rPr lang="en-US" b="1"/>
              <a:t>Action:</a:t>
            </a:r>
            <a:r>
              <a:rPr lang="en-US"/>
              <a:t> </a:t>
            </a:r>
            <a:r>
              <a:rPr lang="en-US" i="1"/>
              <a:t>Review prerequisites and schedule conflicts</a:t>
            </a:r>
            <a:r>
              <a:rPr lang="en-US"/>
              <a:t>.</a:t>
            </a:r>
            <a:br>
              <a:rPr lang="en-US"/>
            </a:br>
            <a:r>
              <a:rPr lang="en-US"/>
              <a:t>5B. </a:t>
            </a:r>
            <a:r>
              <a:rPr lang="en-US" b="1"/>
              <a:t>Decision:</a:t>
            </a:r>
            <a:r>
              <a:rPr lang="en-US"/>
              <a:t> </a:t>
            </a:r>
            <a:r>
              <a:rPr lang="en-US" i="1"/>
              <a:t>Issues found?</a:t>
            </a:r>
            <a:endParaRPr lang="en-US"/>
          </a:p>
          <a:p>
            <a:pPr marL="685800" lvl="1" indent="-228600">
              <a:buFont typeface="Arial" panose="020B0604020202020204" pitchFamily="34" charset="0"/>
              <a:buChar char="•"/>
            </a:pPr>
            <a:r>
              <a:rPr lang="en-US" b="1"/>
              <a:t>[Yes]</a:t>
            </a:r>
            <a:r>
              <a:rPr lang="en-US"/>
              <a:t> → </a:t>
            </a:r>
            <a:r>
              <a:rPr lang="en-US" b="1"/>
              <a:t>Action:</a:t>
            </a:r>
            <a:r>
              <a:rPr lang="en-US"/>
              <a:t> </a:t>
            </a:r>
            <a:r>
              <a:rPr lang="en-US" i="1"/>
              <a:t>Reject request</a:t>
            </a:r>
            <a:r>
              <a:rPr lang="en-US"/>
              <a:t> → </a:t>
            </a:r>
            <a:r>
              <a:rPr lang="en-US" b="1"/>
              <a:t>Final flow node</a:t>
            </a:r>
            <a:r>
              <a:rPr lang="en-US"/>
              <a:t> (ends only this branch’s outcome; no token reaches the later join).</a:t>
            </a:r>
          </a:p>
          <a:p>
            <a:pPr marL="685800" lvl="1" indent="-228600">
              <a:buFont typeface="Arial" panose="020B0604020202020204" pitchFamily="34" charset="0"/>
              <a:buChar char="•"/>
            </a:pPr>
            <a:r>
              <a:rPr lang="en-US" b="1"/>
              <a:t>[No]</a:t>
            </a:r>
            <a:r>
              <a:rPr lang="en-US"/>
              <a:t> → </a:t>
            </a:r>
            <a:r>
              <a:rPr lang="en-US" b="1"/>
              <a:t>Action:</a:t>
            </a:r>
            <a:r>
              <a:rPr lang="en-US"/>
              <a:t> </a:t>
            </a:r>
            <a:r>
              <a:rPr lang="en-US" i="1"/>
              <a:t>Approve request</a:t>
            </a:r>
            <a:r>
              <a:rPr lang="en-US"/>
              <a:t> → place a token that can reach the join.</a:t>
            </a:r>
          </a:p>
          <a:p>
            <a:pPr marL="0" indent="0">
              <a:buFont typeface="+mj-lt"/>
              <a:buNone/>
            </a:pPr>
            <a:r>
              <a:rPr lang="en-US" b="1"/>
              <a:t>    Branch B – Accounting lane</a:t>
            </a:r>
            <a:br>
              <a:rPr lang="en-US"/>
            </a:br>
            <a:r>
              <a:rPr lang="en-US"/>
              <a:t>     5C. </a:t>
            </a:r>
            <a:r>
              <a:rPr lang="en-US" b="1"/>
              <a:t>Action:</a:t>
            </a:r>
            <a:r>
              <a:rPr lang="en-US"/>
              <a:t> </a:t>
            </a:r>
            <a:r>
              <a:rPr lang="en-US" i="1"/>
              <a:t>Check extra/overload fee &amp; outstanding balance</a:t>
            </a:r>
            <a:r>
              <a:rPr lang="en-US"/>
              <a:t>.</a:t>
            </a:r>
            <a:br>
              <a:rPr lang="en-US"/>
            </a:br>
            <a:r>
              <a:rPr lang="en-US"/>
              <a:t>     5D. </a:t>
            </a:r>
            <a:r>
              <a:rPr lang="en-US" b="1"/>
              <a:t>Decision:</a:t>
            </a:r>
            <a:r>
              <a:rPr lang="en-US"/>
              <a:t> </a:t>
            </a:r>
            <a:r>
              <a:rPr lang="en-US" i="1"/>
              <a:t>Fee required or balance due?</a:t>
            </a:r>
            <a:endParaRPr lang="en-US"/>
          </a:p>
          <a:p>
            <a:pPr marL="685800" lvl="1" indent="-228600">
              <a:buFont typeface="Arial" panose="020B0604020202020204" pitchFamily="34" charset="0"/>
              <a:buChar char="•"/>
            </a:pPr>
            <a:r>
              <a:rPr lang="en-US" b="1"/>
              <a:t>[Yes]</a:t>
            </a:r>
            <a:r>
              <a:rPr lang="en-US"/>
              <a:t> → </a:t>
            </a:r>
            <a:r>
              <a:rPr lang="en-US" b="1"/>
              <a:t>Action (Student/Accounting):</a:t>
            </a:r>
            <a:r>
              <a:rPr lang="en-US"/>
              <a:t> </a:t>
            </a:r>
            <a:r>
              <a:rPr lang="en-US" i="1"/>
              <a:t>Student pays fee</a:t>
            </a:r>
            <a:r>
              <a:rPr lang="en-US"/>
              <a:t> → </a:t>
            </a:r>
            <a:r>
              <a:rPr lang="en-US" b="1"/>
              <a:t>Decision:</a:t>
            </a:r>
            <a:r>
              <a:rPr lang="en-US"/>
              <a:t> </a:t>
            </a:r>
            <a:r>
              <a:rPr lang="en-US" i="1"/>
              <a:t>Payment successful?</a:t>
            </a:r>
            <a:endParaRPr lang="en-US"/>
          </a:p>
          <a:p>
            <a:pPr marL="1143000" lvl="2" indent="-228600">
              <a:buFont typeface="Arial" panose="020B0604020202020204" pitchFamily="34" charset="0"/>
              <a:buChar char="•"/>
            </a:pPr>
            <a:r>
              <a:rPr lang="en-US" b="1"/>
              <a:t>[No]</a:t>
            </a:r>
            <a:r>
              <a:rPr lang="en-US"/>
              <a:t> → </a:t>
            </a:r>
            <a:r>
              <a:rPr lang="en-US" b="1"/>
              <a:t>Final flow node</a:t>
            </a:r>
            <a:r>
              <a:rPr lang="en-US"/>
              <a:t> (ends only this branch; no token reaches the join).</a:t>
            </a:r>
          </a:p>
          <a:p>
            <a:pPr marL="1143000" lvl="2" indent="-228600">
              <a:buFont typeface="Arial" panose="020B0604020202020204" pitchFamily="34" charset="0"/>
              <a:buChar char="•"/>
            </a:pPr>
            <a:r>
              <a:rPr lang="en-US" b="1"/>
              <a:t>[Yes]</a:t>
            </a:r>
            <a:r>
              <a:rPr lang="en-US"/>
              <a:t> → continue.</a:t>
            </a:r>
          </a:p>
          <a:p>
            <a:pPr marL="685800" lvl="1" indent="-228600">
              <a:buFont typeface="Arial" panose="020B0604020202020204" pitchFamily="34" charset="0"/>
              <a:buChar char="•"/>
            </a:pPr>
            <a:r>
              <a:rPr lang="en-US" b="1"/>
              <a:t>[No]</a:t>
            </a:r>
            <a:r>
              <a:rPr lang="en-US"/>
              <a:t> → continue.</a:t>
            </a:r>
          </a:p>
          <a:p>
            <a:pPr marL="457200" lvl="1" indent="0">
              <a:buFont typeface="Arial" panose="020B0604020202020204" pitchFamily="34" charset="0"/>
              <a:buNone/>
            </a:pPr>
            <a:r>
              <a:rPr lang="en-US"/>
              <a:t>5E. </a:t>
            </a:r>
            <a:r>
              <a:rPr lang="en-US" b="1"/>
              <a:t>Action:</a:t>
            </a:r>
            <a:r>
              <a:rPr lang="en-US"/>
              <a:t> </a:t>
            </a:r>
            <a:r>
              <a:rPr lang="en-US" i="1"/>
              <a:t>Fee branch clear</a:t>
            </a:r>
            <a:r>
              <a:rPr lang="en-US"/>
              <a:t> (i.e., </a:t>
            </a:r>
            <a:r>
              <a:rPr lang="en-US" i="1"/>
              <a:t>No fee</a:t>
            </a:r>
            <a:r>
              <a:rPr lang="en-US"/>
              <a:t> </a:t>
            </a:r>
            <a:r>
              <a:rPr lang="en-US" b="1"/>
              <a:t>or</a:t>
            </a:r>
            <a:r>
              <a:rPr lang="en-US"/>
              <a:t> </a:t>
            </a:r>
            <a:r>
              <a:rPr lang="en-US" i="1"/>
              <a:t>Payment succeeded</a:t>
            </a:r>
            <a:r>
              <a:rPr lang="en-US"/>
              <a:t>).</a:t>
            </a:r>
          </a:p>
          <a:p>
            <a:pPr marL="228600" indent="-228600">
              <a:buFont typeface="+mj-lt"/>
              <a:buAutoNum type="arabicPeriod" startAt="6"/>
            </a:pPr>
            <a:r>
              <a:rPr lang="en-US" b="1"/>
              <a:t>Join node</a:t>
            </a:r>
            <a:r>
              <a:rPr lang="en-US"/>
              <a:t>: requires </a:t>
            </a:r>
            <a:r>
              <a:rPr lang="en-US" b="1"/>
              <a:t>both</a:t>
            </a:r>
            <a:endParaRPr lang="en-US"/>
          </a:p>
          <a:p>
            <a:pPr marL="685800" lvl="1" indent="-228600">
              <a:buFont typeface="Arial" panose="020B0604020202020204" pitchFamily="34" charset="0"/>
              <a:buChar char="•"/>
            </a:pPr>
            <a:r>
              <a:rPr lang="en-US"/>
              <a:t>Token from </a:t>
            </a:r>
            <a:r>
              <a:rPr lang="en-US" b="1"/>
              <a:t>Advisor branch</a:t>
            </a:r>
            <a:r>
              <a:rPr lang="en-US"/>
              <a:t> (i.e., </a:t>
            </a:r>
            <a:r>
              <a:rPr lang="en-US" i="1"/>
              <a:t>Approved</a:t>
            </a:r>
            <a:r>
              <a:rPr lang="en-US"/>
              <a:t>) </a:t>
            </a:r>
            <a:r>
              <a:rPr lang="en-US" b="1"/>
              <a:t>and</a:t>
            </a:r>
            <a:endParaRPr lang="en-US"/>
          </a:p>
          <a:p>
            <a:pPr marL="685800" lvl="1" indent="-228600">
              <a:buFont typeface="Arial" panose="020B0604020202020204" pitchFamily="34" charset="0"/>
              <a:buChar char="•"/>
            </a:pPr>
            <a:r>
              <a:rPr lang="en-US"/>
              <a:t>Token from </a:t>
            </a:r>
            <a:r>
              <a:rPr lang="en-US" b="1"/>
              <a:t>Accounting branch</a:t>
            </a:r>
            <a:r>
              <a:rPr lang="en-US"/>
              <a:t> (i.e., </a:t>
            </a:r>
            <a:r>
              <a:rPr lang="en-US" i="1"/>
              <a:t>Fee branch clear</a:t>
            </a:r>
            <a:r>
              <a:rPr lang="en-US"/>
              <a:t>).</a:t>
            </a:r>
            <a:br>
              <a:rPr lang="en-US"/>
            </a:br>
            <a:r>
              <a:rPr lang="en-US"/>
              <a:t>If either branch ended via </a:t>
            </a:r>
            <a:r>
              <a:rPr lang="en-US" b="1"/>
              <a:t>final flow</a:t>
            </a:r>
            <a:r>
              <a:rPr lang="en-US"/>
              <a:t>, no token arrives from that side, so the join never fires and the activity quietly terminates (nothing further happens).</a:t>
            </a:r>
          </a:p>
          <a:p>
            <a:pPr marL="228600" indent="-228600">
              <a:buFont typeface="+mj-lt"/>
              <a:buAutoNum type="arabicPeriod" startAt="6"/>
            </a:pPr>
            <a:r>
              <a:rPr lang="en-US" b="1"/>
              <a:t>Action (Registrar):</a:t>
            </a:r>
            <a:r>
              <a:rPr lang="en-US"/>
              <a:t> </a:t>
            </a:r>
            <a:r>
              <a:rPr lang="en-US" i="1"/>
              <a:t>Attempt to enroll student</a:t>
            </a:r>
            <a:r>
              <a:rPr lang="en-US"/>
              <a:t>.</a:t>
            </a:r>
          </a:p>
          <a:p>
            <a:pPr marL="228600" indent="-228600">
              <a:buFont typeface="+mj-lt"/>
              <a:buAutoNum type="arabicPeriod" startAt="6"/>
            </a:pPr>
            <a:r>
              <a:rPr lang="en-US" b="1"/>
              <a:t>Decision (Registrar):</a:t>
            </a:r>
            <a:r>
              <a:rPr lang="en-US"/>
              <a:t> </a:t>
            </a:r>
            <a:r>
              <a:rPr lang="en-US" i="1"/>
              <a:t>Section full?</a:t>
            </a:r>
            <a:endParaRPr lang="en-US"/>
          </a:p>
          <a:p>
            <a:pPr marL="685800" lvl="1" indent="-228600">
              <a:buFont typeface="Arial" panose="020B0604020202020204" pitchFamily="34" charset="0"/>
              <a:buChar char="•"/>
            </a:pPr>
            <a:r>
              <a:rPr lang="en-US" b="1"/>
              <a:t>[Yes]</a:t>
            </a:r>
            <a:r>
              <a:rPr lang="en-US"/>
              <a:t> → </a:t>
            </a:r>
            <a:r>
              <a:rPr lang="en-US" b="1"/>
              <a:t>Action:</a:t>
            </a:r>
            <a:r>
              <a:rPr lang="en-US"/>
              <a:t> </a:t>
            </a:r>
            <a:r>
              <a:rPr lang="en-US" i="1"/>
              <a:t>Place on waitlist</a:t>
            </a:r>
            <a:r>
              <a:rPr lang="en-US"/>
              <a:t> → </a:t>
            </a:r>
            <a:r>
              <a:rPr lang="en-US" b="1"/>
              <a:t>Activity Final node</a:t>
            </a:r>
            <a:r>
              <a:rPr lang="en-US"/>
              <a:t> (</a:t>
            </a:r>
            <a:r>
              <a:rPr lang="en-US" i="1"/>
              <a:t>activity ends</a:t>
            </a:r>
            <a:r>
              <a:rPr lang="en-US"/>
              <a:t>).</a:t>
            </a:r>
          </a:p>
          <a:p>
            <a:pPr marL="685800" lvl="1" indent="-228600">
              <a:buFont typeface="Arial" panose="020B0604020202020204" pitchFamily="34" charset="0"/>
              <a:buChar char="•"/>
            </a:pPr>
            <a:r>
              <a:rPr lang="en-US" b="1"/>
              <a:t>[No]</a:t>
            </a:r>
            <a:r>
              <a:rPr lang="en-US"/>
              <a:t> → </a:t>
            </a:r>
            <a:r>
              <a:rPr lang="en-US" b="1"/>
              <a:t>Action:</a:t>
            </a:r>
            <a:r>
              <a:rPr lang="en-US"/>
              <a:t> </a:t>
            </a:r>
            <a:r>
              <a:rPr lang="en-US" i="1"/>
              <a:t>Finalize enrollment</a:t>
            </a:r>
            <a:r>
              <a:rPr lang="en-US"/>
              <a:t> → </a:t>
            </a:r>
            <a:r>
              <a:rPr lang="en-US" b="1"/>
              <a:t>Action (System/Registrar):</a:t>
            </a:r>
            <a:r>
              <a:rPr lang="en-US"/>
              <a:t> </a:t>
            </a:r>
            <a:r>
              <a:rPr lang="en-US" i="1"/>
              <a:t>Notify student</a:t>
            </a:r>
            <a:r>
              <a:rPr lang="en-US"/>
              <a:t> → </a:t>
            </a:r>
            <a:r>
              <a:rPr lang="en-US" b="1"/>
              <a:t>Activity Final node</a:t>
            </a:r>
            <a:r>
              <a:rPr lang="en-US"/>
              <a:t>.</a:t>
            </a:r>
          </a:p>
          <a:p>
            <a:endParaRPr lang="en-US" dirty="0"/>
          </a:p>
        </p:txBody>
      </p:sp>
      <p:sp>
        <p:nvSpPr>
          <p:cNvPr id="4" name="Slide Number Placeholder 3"/>
          <p:cNvSpPr>
            <a:spLocks noGrp="1"/>
          </p:cNvSpPr>
          <p:nvPr>
            <p:ph type="sldNum" sz="quarter" idx="5"/>
          </p:nvPr>
        </p:nvSpPr>
        <p:spPr/>
        <p:txBody>
          <a:bodyPr/>
          <a:lstStyle/>
          <a:p>
            <a:fld id="{B1F36713-D27E-4EEB-9EE5-055EE396FFBE}" type="slidenum">
              <a:rPr lang="tr-TR" smtClean="0"/>
              <a:pPr/>
              <a:t>32</a:t>
            </a:fld>
            <a:endParaRPr lang="tr-TR"/>
          </a:p>
        </p:txBody>
      </p:sp>
    </p:spTree>
    <p:extLst>
      <p:ext uri="{BB962C8B-B14F-4D97-AF65-F5344CB8AC3E}">
        <p14:creationId xmlns:p14="http://schemas.microsoft.com/office/powerpoint/2010/main" val="231186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9F2F5E10-5301-4EE6-90D2-A6C4A3F62BED}"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3301019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82923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5486401"/>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4" y="3852864"/>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739315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4181567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8" name="Footer Placeholder 7"/>
          <p:cNvSpPr>
            <a:spLocks noGrp="1"/>
          </p:cNvSpPr>
          <p:nvPr>
            <p:ph type="ftr" sz="quarter" idx="11"/>
          </p:nvPr>
        </p:nvSpPr>
        <p:spPr/>
        <p:txBody>
          <a:bodyPr/>
          <a:lstStyle/>
          <a:p>
            <a:r>
              <a:rPr lang="en-US">
                <a:solidFill>
                  <a:srgbClr val="C6E7FC"/>
                </a:solidFill>
                <a:latin typeface="Calibri"/>
              </a:rPr>
              <a:t>Unified Modeling Language</a:t>
            </a:r>
          </a:p>
        </p:txBody>
      </p:sp>
      <p:sp>
        <p:nvSpPr>
          <p:cNvPr id="9" name="Slide Number Placeholder 8"/>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1082756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3036365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3" name="Footer Placeholder 2"/>
          <p:cNvSpPr>
            <a:spLocks noGrp="1"/>
          </p:cNvSpPr>
          <p:nvPr>
            <p:ph type="ftr" sz="quarter" idx="11"/>
          </p:nvPr>
        </p:nvSpPr>
        <p:spPr/>
        <p:txBody>
          <a:bodyPr/>
          <a:lstStyle/>
          <a:p>
            <a:r>
              <a:rPr lang="en-US">
                <a:solidFill>
                  <a:srgbClr val="C6E7FC"/>
                </a:solidFill>
                <a:latin typeface="Calibri"/>
              </a:rPr>
              <a:t>Unified Modeling Language</a:t>
            </a:r>
          </a:p>
        </p:txBody>
      </p:sp>
      <p:sp>
        <p:nvSpPr>
          <p:cNvPr id="4" name="Slide Number Placeholder 3"/>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2772682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801"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541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9" name="Slide Number Placeholder 8"/>
          <p:cNvSpPr>
            <a:spLocks noGrp="1"/>
          </p:cNvSpPr>
          <p:nvPr>
            <p:ph type="sldNum" sz="quarter" idx="11"/>
          </p:nvPr>
        </p:nvSpPr>
        <p:spPr/>
        <p:txBody>
          <a:bodyPr/>
          <a:lstStyle/>
          <a:p>
            <a:fld id="{4A822907-8A9D-4F6B-98F6-913902AD56B5}" type="slidenum">
              <a:rPr lang="en-US" smtClean="0">
                <a:latin typeface="Calibri"/>
              </a:rPr>
              <a:pPr/>
              <a:t>‹#›</a:t>
            </a:fld>
            <a:endParaRPr lang="en-US">
              <a:latin typeface="Calibri"/>
            </a:endParaRPr>
          </a:p>
        </p:txBody>
      </p:sp>
      <p:sp>
        <p:nvSpPr>
          <p:cNvPr id="10" name="Footer Placeholder 9"/>
          <p:cNvSpPr>
            <a:spLocks noGrp="1"/>
          </p:cNvSpPr>
          <p:nvPr>
            <p:ph type="ftr" sz="quarter" idx="12"/>
          </p:nvPr>
        </p:nvSpPr>
        <p:spPr/>
        <p:txBody>
          <a:bodyPr/>
          <a:lstStyle/>
          <a:p>
            <a:r>
              <a:rPr lang="en-US">
                <a:solidFill>
                  <a:srgbClr val="C6E7FC"/>
                </a:solidFill>
                <a:latin typeface="Calibri"/>
              </a:rPr>
              <a:t>Unified Modeling Language</a:t>
            </a:r>
          </a:p>
        </p:txBody>
      </p:sp>
    </p:spTree>
    <p:extLst>
      <p:ext uri="{BB962C8B-B14F-4D97-AF65-F5344CB8AC3E}">
        <p14:creationId xmlns:p14="http://schemas.microsoft.com/office/powerpoint/2010/main" val="3596707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3891114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tr-TR">
                <a:solidFill>
                  <a:srgbClr val="C6E7FC"/>
                </a:solidFill>
                <a:latin typeface="Calibri"/>
              </a:rPr>
              <a:t>7/20/13</a:t>
            </a:r>
            <a:endParaRPr lang="en-US">
              <a:solidFill>
                <a:srgbClr val="C6E7FC"/>
              </a:solidFill>
              <a:latin typeface="Calibri"/>
            </a:endParaRPr>
          </a:p>
        </p:txBody>
      </p:sp>
      <p:sp>
        <p:nvSpPr>
          <p:cNvPr id="5" name="Footer Placeholder 4"/>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a:t>
            </a:fld>
            <a:endParaRPr lang="en-US">
              <a:latin typeface="Calibri"/>
            </a:endParaRPr>
          </a:p>
        </p:txBody>
      </p:sp>
    </p:spTree>
    <p:extLst>
      <p:ext uri="{BB962C8B-B14F-4D97-AF65-F5344CB8AC3E}">
        <p14:creationId xmlns:p14="http://schemas.microsoft.com/office/powerpoint/2010/main" val="1029105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4A822907-8A9D-4F6B-98F6-913902AD56B5}" type="slidenum">
              <a:rPr lang="en-US" smtClean="0">
                <a:latin typeface="Calibri"/>
              </a:rPr>
              <a:pPr/>
              <a:t>‹#›</a:t>
            </a:fld>
            <a:endParaRPr lang="en-US">
              <a:latin typeface="Calibri"/>
            </a:endParaRPr>
          </a:p>
        </p:txBody>
      </p:sp>
      <p:sp>
        <p:nvSpPr>
          <p:cNvPr id="5" name="Footer Placeholder 4"/>
          <p:cNvSpPr>
            <a:spLocks noGrp="1"/>
          </p:cNvSpPr>
          <p:nvPr>
            <p:ph type="ftr" sz="quarter" idx="3"/>
          </p:nvPr>
        </p:nvSpPr>
        <p:spPr>
          <a:xfrm rot="16200000">
            <a:off x="7586912"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US">
                <a:solidFill>
                  <a:srgbClr val="C6E7FC"/>
                </a:solidFill>
                <a:latin typeface="Calibri"/>
              </a:rPr>
              <a:t>Unified Modeling Language</a:t>
            </a:r>
          </a:p>
        </p:txBody>
      </p:sp>
      <p:sp>
        <p:nvSpPr>
          <p:cNvPr id="4" name="Date Placeholder 3"/>
          <p:cNvSpPr>
            <a:spLocks noGrp="1"/>
          </p:cNvSpPr>
          <p:nvPr>
            <p:ph type="dt" sz="half" idx="2"/>
          </p:nvPr>
        </p:nvSpPr>
        <p:spPr>
          <a:xfrm rot="16200000">
            <a:off x="7551353" y="1645920"/>
            <a:ext cx="2438399" cy="365760"/>
          </a:xfrm>
          <a:prstGeom prst="rect">
            <a:avLst/>
          </a:prstGeom>
        </p:spPr>
        <p:txBody>
          <a:bodyPr vert="horz" lIns="91440" tIns="45720" rIns="91440" bIns="45720" rtlCol="0" anchor="ctr"/>
          <a:lstStyle>
            <a:lvl1pPr algn="l">
              <a:defRPr sz="1200">
                <a:solidFill>
                  <a:schemeClr val="bg2"/>
                </a:solidFill>
              </a:defRPr>
            </a:lvl1pPr>
          </a:lstStyle>
          <a:p>
            <a:r>
              <a:rPr lang="tr-TR">
                <a:solidFill>
                  <a:srgbClr val="C6E7FC"/>
                </a:solidFill>
                <a:latin typeface="Calibri"/>
              </a:rPr>
              <a:t>7/20/13</a:t>
            </a:r>
            <a:endParaRPr lang="en-US">
              <a:solidFill>
                <a:srgbClr val="C6E7FC"/>
              </a:solidFill>
              <a:latin typeface="Calibri"/>
            </a:endParaRPr>
          </a:p>
        </p:txBody>
      </p:sp>
    </p:spTree>
    <p:extLst>
      <p:ext uri="{BB962C8B-B14F-4D97-AF65-F5344CB8AC3E}">
        <p14:creationId xmlns:p14="http://schemas.microsoft.com/office/powerpoint/2010/main" val="29011750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4.jpe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pPr algn="ctr"/>
            <a:r>
              <a:rPr lang="en-US" dirty="0">
                <a:solidFill>
                  <a:srgbClr val="06436B"/>
                </a:solidFill>
              </a:rPr>
              <a:t>Activity Diagrams</a:t>
            </a:r>
          </a:p>
        </p:txBody>
      </p:sp>
      <p:sp>
        <p:nvSpPr>
          <p:cNvPr id="3" name="Subtitle 2"/>
          <p:cNvSpPr>
            <a:spLocks noGrp="1"/>
          </p:cNvSpPr>
          <p:nvPr>
            <p:ph type="subTitle" idx="1"/>
          </p:nvPr>
        </p:nvSpPr>
        <p:spPr/>
        <p:txBody>
          <a:bodyPr anchor="b"/>
          <a:lstStyle/>
          <a:p>
            <a:pPr lvl="0">
              <a:buClr>
                <a:srgbClr val="31B6FD"/>
              </a:buClr>
            </a:pPr>
            <a:endParaRPr lang="en-US" sz="1200" dirty="0">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9F2F5E10-5301-4EE6-90D2-A6C4A3F62BED}" type="slidenum">
              <a:rPr lang="en-US" smtClean="0">
                <a:latin typeface="Calibri"/>
              </a:rPr>
              <a:pPr/>
              <a:t>1</a:t>
            </a:fld>
            <a:endParaRPr lang="en-US">
              <a:latin typeface="Calibri"/>
            </a:endParaRPr>
          </a:p>
        </p:txBody>
      </p:sp>
    </p:spTree>
    <p:extLst>
      <p:ext uri="{BB962C8B-B14F-4D97-AF65-F5344CB8AC3E}">
        <p14:creationId xmlns:p14="http://schemas.microsoft.com/office/powerpoint/2010/main" val="186400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Diagrams Overview</a:t>
            </a:r>
          </a:p>
        </p:txBody>
      </p:sp>
      <p:sp>
        <p:nvSpPr>
          <p:cNvPr id="3" name="Content Placeholder 2"/>
          <p:cNvSpPr>
            <a:spLocks noGrp="1"/>
          </p:cNvSpPr>
          <p:nvPr>
            <p:ph idx="1"/>
          </p:nvPr>
        </p:nvSpPr>
        <p:spPr/>
        <p:txBody>
          <a:bodyPr>
            <a:normAutofit/>
          </a:bodyPr>
          <a:lstStyle/>
          <a:p>
            <a:pPr algn="just"/>
            <a:r>
              <a:rPr lang="en-GB" sz="2000" b="1" u="sng" dirty="0">
                <a:solidFill>
                  <a:schemeClr val="tx2">
                    <a:lumMod val="60000"/>
                    <a:lumOff val="40000"/>
                  </a:schemeClr>
                </a:solidFill>
              </a:rPr>
              <a:t>Definition:</a:t>
            </a:r>
            <a:r>
              <a:rPr lang="en-GB" sz="2000" dirty="0">
                <a:solidFill>
                  <a:schemeClr val="tx2">
                    <a:lumMod val="60000"/>
                    <a:lumOff val="40000"/>
                  </a:schemeClr>
                </a:solidFill>
              </a:rPr>
              <a:t> </a:t>
            </a:r>
            <a:r>
              <a:rPr lang="en-GB" sz="2000" dirty="0"/>
              <a:t>Activity diagrams are graphical representations of workflows of stepwise actions that are part of a larger activity. </a:t>
            </a:r>
          </a:p>
          <a:p>
            <a:pPr marL="114300" indent="0" algn="just">
              <a:buNone/>
            </a:pPr>
            <a:endParaRPr lang="en-GB" sz="2000" dirty="0">
              <a:solidFill>
                <a:schemeClr val="tx1">
                  <a:lumMod val="95000"/>
                  <a:lumOff val="5000"/>
                </a:schemeClr>
              </a:solidFill>
            </a:endParaRPr>
          </a:p>
          <a:p>
            <a:pPr algn="just"/>
            <a:r>
              <a:rPr lang="en-GB" sz="2000" b="1" u="sng" dirty="0">
                <a:solidFill>
                  <a:srgbClr val="2D83F4"/>
                </a:solidFill>
              </a:rPr>
              <a:t>UML Diagram Type:</a:t>
            </a:r>
            <a:r>
              <a:rPr lang="en-GB" sz="2000" dirty="0">
                <a:solidFill>
                  <a:srgbClr val="0B87D6"/>
                </a:solidFill>
              </a:rPr>
              <a:t> </a:t>
            </a:r>
            <a:r>
              <a:rPr lang="en-GB" sz="2000" dirty="0"/>
              <a:t>Behavioural.</a:t>
            </a:r>
            <a:endParaRPr lang="en-GB" sz="2000" dirty="0">
              <a:solidFill>
                <a:srgbClr val="0B87D6"/>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a:t>
            </a:fld>
            <a:endParaRPr lang="en-US">
              <a:latin typeface="Calibri"/>
            </a:endParaRPr>
          </a:p>
        </p:txBody>
      </p:sp>
    </p:spTree>
    <p:extLst>
      <p:ext uri="{BB962C8B-B14F-4D97-AF65-F5344CB8AC3E}">
        <p14:creationId xmlns:p14="http://schemas.microsoft.com/office/powerpoint/2010/main" val="160647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Diagrams Overview - 2</a:t>
            </a:r>
          </a:p>
        </p:txBody>
      </p:sp>
      <p:sp>
        <p:nvSpPr>
          <p:cNvPr id="3" name="Content Placeholder 2"/>
          <p:cNvSpPr>
            <a:spLocks noGrp="1"/>
          </p:cNvSpPr>
          <p:nvPr>
            <p:ph idx="1"/>
          </p:nvPr>
        </p:nvSpPr>
        <p:spPr/>
        <p:txBody>
          <a:bodyPr>
            <a:noAutofit/>
          </a:bodyPr>
          <a:lstStyle/>
          <a:p>
            <a:pPr algn="just"/>
            <a:r>
              <a:rPr lang="en-GB" sz="2000" dirty="0"/>
              <a:t>Use cases show </a:t>
            </a:r>
            <a:r>
              <a:rPr lang="en-GB" sz="2000" i="1" dirty="0">
                <a:solidFill>
                  <a:srgbClr val="2D83F4"/>
                </a:solidFill>
              </a:rPr>
              <a:t>what</a:t>
            </a:r>
            <a:r>
              <a:rPr lang="en-GB" sz="2000" dirty="0">
                <a:solidFill>
                  <a:srgbClr val="2D83F4"/>
                </a:solidFill>
              </a:rPr>
              <a:t> </a:t>
            </a:r>
            <a:r>
              <a:rPr lang="en-GB" sz="2000" dirty="0"/>
              <a:t>your system should do. </a:t>
            </a:r>
          </a:p>
          <a:p>
            <a:pPr algn="just"/>
            <a:endParaRPr lang="en-GB" sz="2000" dirty="0"/>
          </a:p>
          <a:p>
            <a:pPr algn="just"/>
            <a:r>
              <a:rPr lang="en-GB" sz="2000" dirty="0"/>
              <a:t>Activity diagrams allow you to specify </a:t>
            </a:r>
            <a:r>
              <a:rPr lang="en-GB" sz="2000" i="1" dirty="0">
                <a:solidFill>
                  <a:schemeClr val="tx2">
                    <a:lumMod val="60000"/>
                    <a:lumOff val="40000"/>
                  </a:schemeClr>
                </a:solidFill>
              </a:rPr>
              <a:t>how</a:t>
            </a:r>
            <a:r>
              <a:rPr lang="en-GB" sz="2000" dirty="0"/>
              <a:t> your system will accomplish its goals. </a:t>
            </a:r>
          </a:p>
          <a:p>
            <a:pPr algn="just"/>
            <a:endParaRPr lang="en-GB" sz="2000" dirty="0"/>
          </a:p>
          <a:p>
            <a:pPr algn="just"/>
            <a:r>
              <a:rPr lang="en-GB" sz="2000" dirty="0"/>
              <a:t>Activity diagrams show high-level actions chained together to represent a process (activity) occurring in your system. </a:t>
            </a:r>
          </a:p>
          <a:p>
            <a:pPr lvl="1" algn="just"/>
            <a:r>
              <a:rPr lang="en-GB" sz="1800" i="1" dirty="0">
                <a:solidFill>
                  <a:srgbClr val="2D83F4"/>
                </a:solidFill>
              </a:rPr>
              <a:t>For example, you can use an activity diagram to model the steps (actions) involved with creating a blog account, student registration or </a:t>
            </a:r>
            <a:r>
              <a:rPr lang="en-GB" sz="1800" i="1" dirty="0">
                <a:solidFill>
                  <a:schemeClr val="tx2">
                    <a:lumMod val="60000"/>
                    <a:lumOff val="40000"/>
                  </a:schemeClr>
                </a:solidFill>
              </a:rPr>
              <a:t>booking a concert ticket.</a:t>
            </a:r>
          </a:p>
          <a:p>
            <a:pPr lvl="1" algn="just"/>
            <a:r>
              <a:rPr lang="en-GB" sz="1800" i="1" dirty="0">
                <a:solidFill>
                  <a:schemeClr val="tx2">
                    <a:lumMod val="60000"/>
                    <a:lumOff val="40000"/>
                  </a:schemeClr>
                </a:solidFill>
              </a:rPr>
              <a:t>Activity is a sequence of actions that take finite time and can be interrupted. However, action is an atomic task that cannot be interrupted (at least from user’s perspective).</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3</a:t>
            </a:fld>
            <a:endParaRPr lang="en-US">
              <a:latin typeface="Calibri"/>
            </a:endParaRPr>
          </a:p>
        </p:txBody>
      </p:sp>
    </p:spTree>
    <p:extLst>
      <p:ext uri="{BB962C8B-B14F-4D97-AF65-F5344CB8AC3E}">
        <p14:creationId xmlns:p14="http://schemas.microsoft.com/office/powerpoint/2010/main" val="1324867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Diagrams Overview - 3</a:t>
            </a:r>
            <a:endParaRPr lang="en-US" dirty="0"/>
          </a:p>
        </p:txBody>
      </p:sp>
      <p:sp>
        <p:nvSpPr>
          <p:cNvPr id="3" name="Content Placeholder 2"/>
          <p:cNvSpPr>
            <a:spLocks noGrp="1"/>
          </p:cNvSpPr>
          <p:nvPr>
            <p:ph idx="1"/>
          </p:nvPr>
        </p:nvSpPr>
        <p:spPr/>
        <p:txBody>
          <a:bodyPr>
            <a:normAutofit/>
          </a:bodyPr>
          <a:lstStyle/>
          <a:p>
            <a:pPr algn="just"/>
            <a:r>
              <a:rPr lang="en-US" sz="2000" dirty="0"/>
              <a:t>“Booking a Concert Ticket” activity consists of the following actions:</a:t>
            </a:r>
          </a:p>
          <a:p>
            <a:pPr marL="868680" lvl="1" indent="-457200" algn="just">
              <a:buFont typeface="+mj-lt"/>
              <a:buAutoNum type="arabicPeriod"/>
            </a:pPr>
            <a:r>
              <a:rPr lang="en-US" sz="1800" i="1" dirty="0">
                <a:solidFill>
                  <a:srgbClr val="2D83F4"/>
                </a:solidFill>
              </a:rPr>
              <a:t>Customer calls ticket office.</a:t>
            </a:r>
          </a:p>
          <a:p>
            <a:pPr marL="868680" lvl="1" indent="-457200" algn="just">
              <a:buFont typeface="+mj-lt"/>
              <a:buAutoNum type="arabicPeriod"/>
            </a:pPr>
            <a:r>
              <a:rPr lang="en-US" sz="1800" i="1" dirty="0">
                <a:solidFill>
                  <a:srgbClr val="2D83F4"/>
                </a:solidFill>
              </a:rPr>
              <a:t>Ticket </a:t>
            </a:r>
            <a:r>
              <a:rPr lang="en-US" sz="1800" i="1" dirty="0">
                <a:solidFill>
                  <a:srgbClr val="2D83F4"/>
                </a:solidFill>
                <a:ea typeface="Lucida Grande"/>
                <a:cs typeface="Lucida Grande"/>
              </a:rPr>
              <a:t>representative</a:t>
            </a:r>
            <a:r>
              <a:rPr lang="en-US" sz="1800" i="1" dirty="0">
                <a:solidFill>
                  <a:srgbClr val="2D83F4"/>
                </a:solidFill>
              </a:rPr>
              <a:t> asks what event person wants tickets for.</a:t>
            </a:r>
          </a:p>
          <a:p>
            <a:pPr marL="868680" lvl="1" indent="-457200" algn="just">
              <a:buFont typeface="+mj-lt"/>
              <a:buAutoNum type="arabicPeriod"/>
            </a:pPr>
            <a:r>
              <a:rPr lang="en-US" sz="1800" i="1" dirty="0">
                <a:solidFill>
                  <a:srgbClr val="2D83F4"/>
                </a:solidFill>
              </a:rPr>
              <a:t>Customer tells </a:t>
            </a:r>
            <a:r>
              <a:rPr lang="en-US" sz="1800" i="1" dirty="0">
                <a:solidFill>
                  <a:srgbClr val="2D83F4"/>
                </a:solidFill>
                <a:ea typeface="Lucida Grande"/>
                <a:cs typeface="Lucida Grande"/>
              </a:rPr>
              <a:t>representative</a:t>
            </a:r>
            <a:r>
              <a:rPr lang="en-US" sz="1800" i="1" dirty="0">
                <a:solidFill>
                  <a:srgbClr val="2D83F4"/>
                </a:solidFill>
              </a:rPr>
              <a:t> event choice.</a:t>
            </a:r>
          </a:p>
          <a:p>
            <a:pPr marL="868680" lvl="1" indent="-457200" algn="just">
              <a:buFont typeface="+mj-lt"/>
              <a:buAutoNum type="arabicPeriod"/>
            </a:pPr>
            <a:r>
              <a:rPr lang="en-US" sz="1800" i="1" dirty="0">
                <a:solidFill>
                  <a:srgbClr val="2D83F4"/>
                </a:solidFill>
              </a:rPr>
              <a:t>Ticket </a:t>
            </a:r>
            <a:r>
              <a:rPr lang="en-US" sz="1800" i="1" dirty="0">
                <a:solidFill>
                  <a:srgbClr val="2D83F4"/>
                </a:solidFill>
                <a:ea typeface="Lucida Grande"/>
                <a:cs typeface="Lucida Grande"/>
              </a:rPr>
              <a:t>representative</a:t>
            </a:r>
            <a:r>
              <a:rPr lang="en-US" sz="1800" i="1" dirty="0">
                <a:solidFill>
                  <a:srgbClr val="2D83F4"/>
                </a:solidFill>
              </a:rPr>
              <a:t> tells customer available seats and prices.</a:t>
            </a:r>
          </a:p>
          <a:p>
            <a:pPr marL="868680" lvl="1" indent="-457200" algn="just">
              <a:buFont typeface="+mj-lt"/>
              <a:buAutoNum type="arabicPeriod"/>
            </a:pPr>
            <a:r>
              <a:rPr lang="en-US" sz="1800" i="1" dirty="0">
                <a:solidFill>
                  <a:srgbClr val="2D83F4"/>
                </a:solidFill>
              </a:rPr>
              <a:t>Customer tells </a:t>
            </a:r>
            <a:r>
              <a:rPr lang="en-US" sz="1800" i="1" dirty="0">
                <a:solidFill>
                  <a:srgbClr val="2D83F4"/>
                </a:solidFill>
                <a:ea typeface="Lucida Grande"/>
                <a:cs typeface="Lucida Grande"/>
              </a:rPr>
              <a:t>representative</a:t>
            </a:r>
            <a:r>
              <a:rPr lang="en-US" sz="1800" i="1" dirty="0">
                <a:solidFill>
                  <a:srgbClr val="2D83F4"/>
                </a:solidFill>
              </a:rPr>
              <a:t> seating choice.</a:t>
            </a:r>
          </a:p>
          <a:p>
            <a:pPr marL="868680" lvl="1" indent="-457200" algn="just">
              <a:buFont typeface="+mj-lt"/>
              <a:buAutoNum type="arabicPeriod"/>
            </a:pPr>
            <a:r>
              <a:rPr lang="en-US" sz="1800" i="1" dirty="0">
                <a:solidFill>
                  <a:srgbClr val="2D83F4"/>
                </a:solidFill>
              </a:rPr>
              <a:t>Ticket </a:t>
            </a:r>
            <a:r>
              <a:rPr lang="en-US" sz="1800" i="1" dirty="0">
                <a:solidFill>
                  <a:srgbClr val="2D83F4"/>
                </a:solidFill>
                <a:ea typeface="Lucida Grande"/>
                <a:cs typeface="Lucida Grande"/>
              </a:rPr>
              <a:t>representative</a:t>
            </a:r>
            <a:r>
              <a:rPr lang="en-US" sz="1800" i="1" dirty="0">
                <a:solidFill>
                  <a:srgbClr val="2D83F4"/>
                </a:solidFill>
              </a:rPr>
              <a:t> reserves seats.</a:t>
            </a:r>
          </a:p>
          <a:p>
            <a:pPr marL="868680" lvl="1" indent="-457200" algn="just">
              <a:buFont typeface="+mj-lt"/>
              <a:buAutoNum type="arabicPeriod"/>
            </a:pPr>
            <a:r>
              <a:rPr lang="en-US" sz="1800" i="1" dirty="0">
                <a:solidFill>
                  <a:srgbClr val="2D83F4"/>
                </a:solidFill>
              </a:rPr>
              <a:t>Ticket </a:t>
            </a:r>
            <a:r>
              <a:rPr lang="en-US" sz="1800" i="1" dirty="0">
                <a:solidFill>
                  <a:srgbClr val="2D83F4"/>
                </a:solidFill>
                <a:ea typeface="Lucida Grande"/>
                <a:cs typeface="Lucida Grande"/>
              </a:rPr>
              <a:t>representative</a:t>
            </a:r>
            <a:r>
              <a:rPr lang="en-US" sz="1800" i="1" dirty="0">
                <a:solidFill>
                  <a:srgbClr val="2D83F4"/>
                </a:solidFill>
              </a:rPr>
              <a:t> asks for credit card and billing address.  </a:t>
            </a:r>
          </a:p>
          <a:p>
            <a:pPr marL="868680" lvl="1" indent="-457200" algn="just">
              <a:buFont typeface="+mj-lt"/>
              <a:buAutoNum type="arabicPeriod"/>
            </a:pPr>
            <a:r>
              <a:rPr lang="en-US" sz="1800" i="1" dirty="0">
                <a:solidFill>
                  <a:srgbClr val="2D83F4"/>
                </a:solidFill>
              </a:rPr>
              <a:t>Customer gives requested information.</a:t>
            </a:r>
          </a:p>
          <a:p>
            <a:pPr marL="868680" lvl="1" indent="-457200" algn="just">
              <a:buFont typeface="+mj-lt"/>
              <a:buAutoNum type="arabicPeriod"/>
            </a:pPr>
            <a:r>
              <a:rPr lang="en-US" sz="1800" i="1" dirty="0">
                <a:solidFill>
                  <a:srgbClr val="2D83F4"/>
                </a:solidFill>
              </a:rPr>
              <a:t>Ticket </a:t>
            </a:r>
            <a:r>
              <a:rPr lang="en-US" sz="1800" i="1" dirty="0">
                <a:solidFill>
                  <a:srgbClr val="2D83F4"/>
                </a:solidFill>
                <a:ea typeface="Lucida Grande"/>
                <a:cs typeface="Lucida Grande"/>
              </a:rPr>
              <a:t>representative</a:t>
            </a:r>
            <a:r>
              <a:rPr lang="en-US" sz="1800" i="1" dirty="0">
                <a:solidFill>
                  <a:srgbClr val="2D83F4"/>
                </a:solidFill>
              </a:rPr>
              <a:t> charges credit card. </a:t>
            </a:r>
          </a:p>
          <a:p>
            <a:pPr marL="868680" lvl="1" indent="-457200" algn="just">
              <a:buFont typeface="+mj-lt"/>
              <a:buAutoNum type="arabicPeriod"/>
            </a:pPr>
            <a:r>
              <a:rPr lang="en-US" sz="1800" i="1" dirty="0">
                <a:solidFill>
                  <a:srgbClr val="2D83F4"/>
                </a:solidFill>
              </a:rPr>
              <a:t>Ticket representative mails tickets. </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4</a:t>
            </a:fld>
            <a:endParaRPr lang="en-US">
              <a:latin typeface="Calibri"/>
            </a:endParaRPr>
          </a:p>
        </p:txBody>
      </p:sp>
    </p:spTree>
    <p:extLst>
      <p:ext uri="{BB962C8B-B14F-4D97-AF65-F5344CB8AC3E}">
        <p14:creationId xmlns:p14="http://schemas.microsoft.com/office/powerpoint/2010/main" val="592276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Diagrams Overview - 4</a:t>
            </a:r>
          </a:p>
        </p:txBody>
      </p:sp>
      <p:sp>
        <p:nvSpPr>
          <p:cNvPr id="3" name="Content Placeholder 2"/>
          <p:cNvSpPr>
            <a:spLocks noGrp="1"/>
          </p:cNvSpPr>
          <p:nvPr>
            <p:ph idx="1"/>
          </p:nvPr>
        </p:nvSpPr>
        <p:spPr/>
        <p:txBody>
          <a:bodyPr>
            <a:normAutofit/>
          </a:bodyPr>
          <a:lstStyle/>
          <a:p>
            <a:pPr algn="just"/>
            <a:r>
              <a:rPr lang="en-GB" sz="2000" dirty="0"/>
              <a:t>Activity diagrams are one of the most accessible UML diagrams since they use symbols similar to the widely-known flowchart notation; therefore, they are useful for describing processes to a broad audience.</a:t>
            </a:r>
          </a:p>
          <a:p>
            <a:pPr algn="just"/>
            <a:endParaRPr lang="en-GB" sz="2000" dirty="0"/>
          </a:p>
          <a:p>
            <a:pPr algn="just"/>
            <a:r>
              <a:rPr lang="en-GB" sz="2000" dirty="0"/>
              <a:t>In fact, activity diagrams have their roots in </a:t>
            </a:r>
            <a:r>
              <a:rPr lang="en-GB" sz="2000" i="1" dirty="0">
                <a:solidFill>
                  <a:srgbClr val="2D83F4"/>
                </a:solidFill>
              </a:rPr>
              <a:t>flowcharts</a:t>
            </a:r>
            <a:r>
              <a:rPr lang="en-GB" sz="2000" dirty="0"/>
              <a:t>, as well as </a:t>
            </a:r>
            <a:r>
              <a:rPr lang="en-GB" sz="2000" i="1" dirty="0">
                <a:solidFill>
                  <a:srgbClr val="2D83F4"/>
                </a:solidFill>
              </a:rPr>
              <a:t>UML state diagrams, data flow diagrams (DFDs), </a:t>
            </a:r>
            <a:r>
              <a:rPr lang="en-GB" sz="2000" dirty="0"/>
              <a:t>and </a:t>
            </a:r>
            <a:r>
              <a:rPr lang="en-GB" sz="2000" i="1" dirty="0">
                <a:solidFill>
                  <a:srgbClr val="2D83F4"/>
                </a:solidFill>
              </a:rPr>
              <a:t>Petri Nets</a:t>
            </a:r>
            <a:r>
              <a:rPr lang="en-GB" sz="2000" dirty="0"/>
              <a:t>.</a:t>
            </a:r>
            <a:endParaRPr lang="en-GB" sz="2000" dirty="0">
              <a:solidFill>
                <a:srgbClr val="2D83F4"/>
              </a:solidFill>
            </a:endParaRPr>
          </a:p>
          <a:p>
            <a:pPr lvl="1" algn="just"/>
            <a:r>
              <a:rPr lang="en-GB" sz="1800" i="1" dirty="0">
                <a:solidFill>
                  <a:srgbClr val="2D83F4"/>
                </a:solidFill>
              </a:rPr>
              <a:t>Activity diagram is used to visualize and exploit the opportunity of parallel (concurrent) and consecutive processing. However, flow chart is limited to sequential process with condition checking points. </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5</a:t>
            </a:fld>
            <a:endParaRPr lang="en-US">
              <a:latin typeface="Calibri"/>
            </a:endParaRPr>
          </a:p>
        </p:txBody>
      </p:sp>
      <p:sp>
        <p:nvSpPr>
          <p:cNvPr id="6" name="TextBox 5"/>
          <p:cNvSpPr txBox="1"/>
          <p:nvPr/>
        </p:nvSpPr>
        <p:spPr>
          <a:xfrm>
            <a:off x="9212386" y="-967154"/>
            <a:ext cx="184666" cy="369332"/>
          </a:xfrm>
          <a:prstGeom prst="rect">
            <a:avLst/>
          </a:prstGeom>
          <a:noFill/>
        </p:spPr>
        <p:txBody>
          <a:bodyPr wrap="none" rtlCol="0">
            <a:spAutoFit/>
          </a:bodyPr>
          <a:lstStyle/>
          <a:p>
            <a:endParaRPr lang="en-US" dirty="0"/>
          </a:p>
        </p:txBody>
      </p:sp>
      <p:sp>
        <p:nvSpPr>
          <p:cNvPr id="7" name="TextBox 6"/>
          <p:cNvSpPr txBox="1"/>
          <p:nvPr/>
        </p:nvSpPr>
        <p:spPr>
          <a:xfrm>
            <a:off x="8411308" y="7424615"/>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89940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Diagrams Overview - 5</a:t>
            </a:r>
          </a:p>
        </p:txBody>
      </p:sp>
      <p:sp>
        <p:nvSpPr>
          <p:cNvPr id="3" name="Content Placeholder 2"/>
          <p:cNvSpPr>
            <a:spLocks noGrp="1"/>
          </p:cNvSpPr>
          <p:nvPr>
            <p:ph idx="1"/>
          </p:nvPr>
        </p:nvSpPr>
        <p:spPr/>
        <p:txBody>
          <a:bodyPr>
            <a:noAutofit/>
          </a:bodyPr>
          <a:lstStyle/>
          <a:p>
            <a:pPr algn="just"/>
            <a:r>
              <a:rPr lang="en-GB" sz="2000" dirty="0"/>
              <a:t>Activity diagrams can be used through a project, from business analysis through to program design. </a:t>
            </a:r>
          </a:p>
          <a:p>
            <a:pPr algn="just"/>
            <a:endParaRPr lang="en-GB" sz="2000" dirty="0"/>
          </a:p>
          <a:p>
            <a:pPr algn="just"/>
            <a:r>
              <a:rPr lang="tr-TR" sz="2000" dirty="0"/>
              <a:t>An </a:t>
            </a:r>
            <a:r>
              <a:rPr lang="en-US" sz="2000" dirty="0"/>
              <a:t>activity diagram is drawn from a high level, so it gives an overview of a system. </a:t>
            </a:r>
          </a:p>
          <a:p>
            <a:pPr lvl="1" algn="just"/>
            <a:r>
              <a:rPr lang="en-US" sz="1800" i="1" dirty="0">
                <a:solidFill>
                  <a:schemeClr val="tx2">
                    <a:lumMod val="60000"/>
                    <a:lumOff val="40000"/>
                  </a:schemeClr>
                </a:solidFill>
              </a:rPr>
              <a:t>This high level view is mainly for business users or any other person who is not a technical person.</a:t>
            </a:r>
          </a:p>
          <a:p>
            <a:pPr algn="just"/>
            <a:endParaRPr lang="en-GB" sz="1800" dirty="0"/>
          </a:p>
          <a:p>
            <a:pPr algn="just"/>
            <a:r>
              <a:rPr lang="en-GB" sz="2000" dirty="0"/>
              <a:t>Following are the main usages of activity diagram:</a:t>
            </a:r>
          </a:p>
          <a:p>
            <a:pPr lvl="1" algn="just"/>
            <a:r>
              <a:rPr lang="en-GB" sz="1800" i="1" dirty="0">
                <a:solidFill>
                  <a:srgbClr val="2D83F4"/>
                </a:solidFill>
              </a:rPr>
              <a:t>Modelling work flow by using activities.</a:t>
            </a:r>
          </a:p>
          <a:p>
            <a:pPr lvl="1" algn="just"/>
            <a:r>
              <a:rPr lang="en-GB" sz="1800" i="1" dirty="0">
                <a:solidFill>
                  <a:srgbClr val="2D83F4"/>
                </a:solidFill>
              </a:rPr>
              <a:t>Modelling business requirements.</a:t>
            </a:r>
          </a:p>
          <a:p>
            <a:pPr lvl="1" algn="just"/>
            <a:r>
              <a:rPr lang="en-GB" sz="1800" i="1" dirty="0">
                <a:solidFill>
                  <a:srgbClr val="2D83F4"/>
                </a:solidFill>
              </a:rPr>
              <a:t>High-level understanding of the system's functionalities.</a:t>
            </a:r>
          </a:p>
          <a:p>
            <a:pPr lvl="1" algn="just"/>
            <a:r>
              <a:rPr lang="en-GB" sz="1800" i="1" dirty="0">
                <a:solidFill>
                  <a:srgbClr val="2D83F4"/>
                </a:solidFill>
              </a:rPr>
              <a:t>Investigate business requirements at a later stage.	</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6</a:t>
            </a:fld>
            <a:endParaRPr lang="en-US">
              <a:latin typeface="Calibri"/>
            </a:endParaRPr>
          </a:p>
        </p:txBody>
      </p:sp>
    </p:spTree>
    <p:extLst>
      <p:ext uri="{BB962C8B-B14F-4D97-AF65-F5344CB8AC3E}">
        <p14:creationId xmlns:p14="http://schemas.microsoft.com/office/powerpoint/2010/main" val="389015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Diagrams Overview - 6</a:t>
            </a:r>
          </a:p>
        </p:txBody>
      </p:sp>
      <p:sp>
        <p:nvSpPr>
          <p:cNvPr id="3" name="Content Placeholder 2"/>
          <p:cNvSpPr>
            <a:spLocks noGrp="1"/>
          </p:cNvSpPr>
          <p:nvPr>
            <p:ph idx="1"/>
          </p:nvPr>
        </p:nvSpPr>
        <p:spPr/>
        <p:txBody>
          <a:bodyPr>
            <a:normAutofit/>
          </a:bodyPr>
          <a:lstStyle/>
          <a:p>
            <a:pPr algn="just"/>
            <a:r>
              <a:rPr lang="en-GB" sz="2000" dirty="0"/>
              <a:t>Activity diagrams are constructed from a limited number of shapes, connected with arrows. </a:t>
            </a:r>
          </a:p>
          <a:p>
            <a:pPr algn="just"/>
            <a:endParaRPr lang="en-GB" sz="2000" dirty="0"/>
          </a:p>
          <a:p>
            <a:pPr algn="just"/>
            <a:r>
              <a:rPr lang="en-GB" sz="2000" dirty="0"/>
              <a:t>Activity diagram has:</a:t>
            </a:r>
          </a:p>
          <a:p>
            <a:pPr lvl="1" algn="just"/>
            <a:r>
              <a:rPr lang="en-GB" sz="1800" i="1" dirty="0">
                <a:solidFill>
                  <a:srgbClr val="2D83F4"/>
                </a:solidFill>
              </a:rPr>
              <a:t>Rounded rectangles that represent actions,</a:t>
            </a:r>
          </a:p>
          <a:p>
            <a:pPr lvl="1" algn="just"/>
            <a:r>
              <a:rPr lang="en-GB" sz="1800" i="1" dirty="0">
                <a:solidFill>
                  <a:srgbClr val="2D83F4"/>
                </a:solidFill>
              </a:rPr>
              <a:t>Diamonds that represent decisions or merge of actions,</a:t>
            </a:r>
          </a:p>
          <a:p>
            <a:pPr lvl="1" algn="just"/>
            <a:r>
              <a:rPr lang="en-GB" sz="1800" i="1" dirty="0">
                <a:solidFill>
                  <a:srgbClr val="2D83F4"/>
                </a:solidFill>
              </a:rPr>
              <a:t>Bars that represent the start (split-fork) or end (join) of concurrent activities,</a:t>
            </a:r>
          </a:p>
          <a:p>
            <a:pPr lvl="1" algn="just"/>
            <a:r>
              <a:rPr lang="en-GB" sz="1800" i="1" dirty="0">
                <a:solidFill>
                  <a:srgbClr val="2D83F4"/>
                </a:solidFill>
              </a:rPr>
              <a:t>A black circle, which represents the start (initial state) of the workflow,</a:t>
            </a:r>
          </a:p>
          <a:p>
            <a:pPr lvl="1" algn="just"/>
            <a:r>
              <a:rPr lang="en-GB" sz="1800" i="1" dirty="0">
                <a:solidFill>
                  <a:srgbClr val="2D83F4"/>
                </a:solidFill>
              </a:rPr>
              <a:t>An encircled black circle, which represents the end (final state), and</a:t>
            </a:r>
          </a:p>
          <a:p>
            <a:pPr lvl="1" algn="just"/>
            <a:r>
              <a:rPr lang="en-GB" sz="1800" i="1" dirty="0">
                <a:solidFill>
                  <a:srgbClr val="2D83F4"/>
                </a:solidFill>
              </a:rPr>
              <a:t>Arrows that run from the start towards the end and represent the order in which activities happen</a:t>
            </a:r>
            <a:r>
              <a:rPr lang="en-GB" i="1" dirty="0">
                <a:solidFill>
                  <a:srgbClr val="2D83F4"/>
                </a:solidFill>
              </a:rPr>
              <a:t>, </a:t>
            </a:r>
            <a:r>
              <a:rPr lang="en-GB" sz="1800" i="1" dirty="0">
                <a:solidFill>
                  <a:srgbClr val="2D83F4"/>
                </a:solidFill>
              </a:rPr>
              <a:t>they </a:t>
            </a:r>
            <a:r>
              <a:rPr lang="en-US" sz="1800" i="1" dirty="0">
                <a:solidFill>
                  <a:srgbClr val="2D83F4"/>
                </a:solidFill>
              </a:rPr>
              <a:t>do not show any message flow</a:t>
            </a:r>
            <a:r>
              <a:rPr lang="en-GB" sz="1800" dirty="0">
                <a:solidFill>
                  <a:srgbClr val="2D83F4"/>
                </a:solidFill>
              </a:rPr>
              <a:t>.</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7</a:t>
            </a:fld>
            <a:endParaRPr lang="en-US">
              <a:latin typeface="Calibri"/>
            </a:endParaRPr>
          </a:p>
        </p:txBody>
      </p:sp>
    </p:spTree>
    <p:extLst>
      <p:ext uri="{BB962C8B-B14F-4D97-AF65-F5344CB8AC3E}">
        <p14:creationId xmlns:p14="http://schemas.microsoft.com/office/powerpoint/2010/main" val="814796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Diagrams Overview - </a:t>
            </a:r>
            <a:r>
              <a:rPr lang="tr-TR" dirty="0"/>
              <a:t>7</a:t>
            </a:r>
          </a:p>
        </p:txBody>
      </p:sp>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2573" y="1988840"/>
            <a:ext cx="7719827" cy="3865404"/>
          </a:xfrm>
          <a:prstGeom prst="rect">
            <a:avLst/>
          </a:prstGeom>
          <a:ln w="38100" cap="sq">
            <a:solidFill>
              <a:srgbClr val="000000"/>
            </a:solidFill>
            <a:prstDash val="solid"/>
            <a:miter lim="800000"/>
          </a:ln>
          <a:effectLst/>
          <a:extLst>
            <a:ext uri="{909E8E84-426E-40dd-AFC4-6F175D3DCCD1}">
              <a14:hiddenFill xmlns="" xmlns:a14="http://schemas.microsoft.com/office/drawing/2010/main">
                <a:solidFill>
                  <a:schemeClr val="accent1"/>
                </a:solidFill>
              </a14:hiddenFill>
            </a:ext>
          </a:extLst>
        </p:spPr>
      </p:pic>
      <p:sp>
        <p:nvSpPr>
          <p:cNvPr id="8" name="TextBox 7"/>
          <p:cNvSpPr txBox="1"/>
          <p:nvPr/>
        </p:nvSpPr>
        <p:spPr>
          <a:xfrm>
            <a:off x="3635896" y="2636913"/>
            <a:ext cx="1296144" cy="276999"/>
          </a:xfrm>
          <a:prstGeom prst="rect">
            <a:avLst/>
          </a:prstGeom>
          <a:noFill/>
        </p:spPr>
        <p:txBody>
          <a:bodyPr wrap="square" rtlCol="0">
            <a:spAutoFit/>
          </a:bodyPr>
          <a:lstStyle/>
          <a:p>
            <a:r>
              <a:rPr lang="en-GB" sz="1200" b="1" dirty="0"/>
              <a:t>Order Fulfilment</a:t>
            </a:r>
          </a:p>
        </p:txBody>
      </p:sp>
      <p:sp>
        <p:nvSpPr>
          <p:cNvPr id="10" name="TextBox 9"/>
          <p:cNvSpPr txBox="1"/>
          <p:nvPr/>
        </p:nvSpPr>
        <p:spPr>
          <a:xfrm>
            <a:off x="3419872" y="2060849"/>
            <a:ext cx="576064" cy="276999"/>
          </a:xfrm>
          <a:prstGeom prst="rect">
            <a:avLst/>
          </a:prstGeom>
          <a:noFill/>
        </p:spPr>
        <p:txBody>
          <a:bodyPr wrap="square" rtlCol="0">
            <a:spAutoFit/>
          </a:bodyPr>
          <a:lstStyle/>
          <a:p>
            <a:r>
              <a:rPr lang="en-GB" sz="1200" b="1" dirty="0"/>
              <a:t>Label</a:t>
            </a:r>
          </a:p>
        </p:txBody>
      </p:sp>
      <p:cxnSp>
        <p:nvCxnSpPr>
          <p:cNvPr id="12" name="Straight Arrow Connector 11"/>
          <p:cNvCxnSpPr>
            <a:stCxn id="10" idx="2"/>
            <a:endCxn id="8" idx="0"/>
          </p:cNvCxnSpPr>
          <p:nvPr/>
        </p:nvCxnSpPr>
        <p:spPr>
          <a:xfrm>
            <a:off x="3707904" y="2337848"/>
            <a:ext cx="576064" cy="299065"/>
          </a:xfrm>
          <a:prstGeom prst="straightConnector1">
            <a:avLst/>
          </a:prstGeom>
          <a:ln cap="flat">
            <a:solidFill>
              <a:srgbClr val="C40000"/>
            </a:solidFill>
            <a:round/>
            <a:tailEnd type="triangle"/>
          </a:ln>
        </p:spPr>
        <p:style>
          <a:lnRef idx="2">
            <a:schemeClr val="accent1"/>
          </a:lnRef>
          <a:fillRef idx="0">
            <a:schemeClr val="accent1"/>
          </a:fillRef>
          <a:effectRef idx="1">
            <a:schemeClr val="accent1"/>
          </a:effectRef>
          <a:fontRef idx="minor">
            <a:schemeClr val="tx1"/>
          </a:fontRef>
        </p:style>
      </p:cxn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8</a:t>
            </a:fld>
            <a:endParaRPr lang="en-US">
              <a:latin typeface="Calibri"/>
            </a:endParaRPr>
          </a:p>
        </p:txBody>
      </p:sp>
    </p:spTree>
    <p:extLst>
      <p:ext uri="{BB962C8B-B14F-4D97-AF65-F5344CB8AC3E}">
        <p14:creationId xmlns:p14="http://schemas.microsoft.com/office/powerpoint/2010/main" val="1291073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Activities</a:t>
            </a:r>
          </a:p>
        </p:txBody>
      </p:sp>
      <p:sp>
        <p:nvSpPr>
          <p:cNvPr id="3" name="Content Placeholder 2"/>
          <p:cNvSpPr>
            <a:spLocks noGrp="1"/>
          </p:cNvSpPr>
          <p:nvPr>
            <p:ph idx="1"/>
          </p:nvPr>
        </p:nvSpPr>
        <p:spPr/>
        <p:txBody>
          <a:bodyPr>
            <a:normAutofit/>
          </a:bodyPr>
          <a:lstStyle/>
          <a:p>
            <a:pPr algn="just"/>
            <a:r>
              <a:rPr lang="en-US" sz="2000" dirty="0"/>
              <a:t>An activity is shown as a </a:t>
            </a:r>
            <a:r>
              <a:rPr lang="en-US" sz="2000" i="1" dirty="0">
                <a:solidFill>
                  <a:srgbClr val="2D83F4"/>
                </a:solidFill>
              </a:rPr>
              <a:t>round-cornered rectangle</a:t>
            </a:r>
            <a:r>
              <a:rPr lang="en-US" sz="2000" dirty="0"/>
              <a:t> enclosing all the </a:t>
            </a:r>
            <a:r>
              <a:rPr lang="en-US" sz="2000" i="1" dirty="0">
                <a:solidFill>
                  <a:schemeClr val="tx2">
                    <a:lumMod val="60000"/>
                    <a:lumOff val="40000"/>
                  </a:schemeClr>
                </a:solidFill>
              </a:rPr>
              <a:t>actions, control flows </a:t>
            </a:r>
            <a:r>
              <a:rPr lang="en-US" sz="2000" dirty="0"/>
              <a:t>and </a:t>
            </a:r>
            <a:r>
              <a:rPr lang="en-US" sz="2000" i="1" dirty="0">
                <a:solidFill>
                  <a:srgbClr val="2D83F4"/>
                </a:solidFill>
              </a:rPr>
              <a:t>other elements (object, object flows, etc.) </a:t>
            </a:r>
            <a:r>
              <a:rPr lang="en-US" sz="2000" dirty="0"/>
              <a:t>that make up the activity.</a:t>
            </a:r>
          </a:p>
          <a:p>
            <a:pPr algn="just"/>
            <a:endParaRPr lang="en-GB" sz="2000" dirty="0">
              <a:solidFill>
                <a:srgbClr val="2D83F4"/>
              </a:solidFill>
            </a:endParaRPr>
          </a:p>
          <a:p>
            <a:pPr algn="just"/>
            <a:r>
              <a:rPr lang="en-GB" sz="2000" dirty="0">
                <a:solidFill>
                  <a:srgbClr val="000000"/>
                </a:solidFill>
              </a:rPr>
              <a:t>Inside the activity, a number of actions are linked by activity edges to describe a workflow. </a:t>
            </a:r>
          </a:p>
          <a:p>
            <a:pPr algn="just"/>
            <a:endParaRPr lang="en-GB" sz="2000" dirty="0">
              <a:solidFill>
                <a:srgbClr val="2D83F4"/>
              </a:solidFill>
            </a:endParaRPr>
          </a:p>
          <a:p>
            <a:pPr algn="just"/>
            <a:r>
              <a:rPr lang="en-GB" sz="2000" dirty="0">
                <a:solidFill>
                  <a:srgbClr val="2D83F4"/>
                </a:solidFill>
              </a:rPr>
              <a:t>The word “activity” is often mistakenly used instead of “action” to describe a step in an activity diagram, but they are not the same. </a:t>
            </a:r>
          </a:p>
          <a:p>
            <a:pPr lvl="1" algn="just"/>
            <a:r>
              <a:rPr lang="en-GB" sz="1800" i="1" dirty="0">
                <a:solidFill>
                  <a:srgbClr val="2D83F4"/>
                </a:solidFill>
              </a:rPr>
              <a:t>Washing a car is an activity. This activity consists of some steps, such as lather, rinse and dry, which are called as actions.</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9</a:t>
            </a:fld>
            <a:endParaRPr lang="en-US">
              <a:latin typeface="Calibri"/>
            </a:endParaRPr>
          </a:p>
        </p:txBody>
      </p:sp>
    </p:spTree>
    <p:extLst>
      <p:ext uri="{BB962C8B-B14F-4D97-AF65-F5344CB8AC3E}">
        <p14:creationId xmlns:p14="http://schemas.microsoft.com/office/powerpoint/2010/main" val="2998868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Activities - 2</a:t>
            </a:r>
          </a:p>
        </p:txBody>
      </p:sp>
      <p:sp>
        <p:nvSpPr>
          <p:cNvPr id="3" name="Content Placeholder 2"/>
          <p:cNvSpPr>
            <a:spLocks noGrp="1"/>
          </p:cNvSpPr>
          <p:nvPr>
            <p:ph idx="1"/>
          </p:nvPr>
        </p:nvSpPr>
        <p:spPr/>
        <p:txBody>
          <a:bodyPr>
            <a:normAutofit/>
          </a:bodyPr>
          <a:lstStyle/>
          <a:p>
            <a:pPr algn="just"/>
            <a:r>
              <a:rPr lang="en-US" sz="2000" i="1" dirty="0">
                <a:solidFill>
                  <a:srgbClr val="2D83F4"/>
                </a:solidFill>
              </a:rPr>
              <a:t>An activity is labeled by its name (noun and verb phrases). </a:t>
            </a:r>
          </a:p>
          <a:p>
            <a:pPr algn="just"/>
            <a:endParaRPr lang="en-US" sz="2000" dirty="0"/>
          </a:p>
          <a:p>
            <a:pPr algn="just"/>
            <a:r>
              <a:rPr lang="en-US" sz="2000" dirty="0"/>
              <a:t>Name of the activity must be written in the middle of the activity frame.</a:t>
            </a:r>
          </a:p>
          <a:p>
            <a:pPr algn="just"/>
            <a:endParaRPr lang="en-US" sz="2000" dirty="0"/>
          </a:p>
          <a:p>
            <a:pPr algn="just"/>
            <a:r>
              <a:rPr lang="en-US" sz="2000" dirty="0"/>
              <a:t>Activities should have only one start point, </a:t>
            </a:r>
            <a:r>
              <a:rPr lang="en-US" sz="2000" i="1" dirty="0">
                <a:solidFill>
                  <a:srgbClr val="2D83F4"/>
                </a:solidFill>
              </a:rPr>
              <a:t>but may have a number of end points</a:t>
            </a:r>
            <a:r>
              <a:rPr lang="en-US" sz="2000" dirty="0"/>
              <a:t>.</a:t>
            </a:r>
          </a:p>
          <a:p>
            <a:pPr algn="just"/>
            <a:endParaRPr lang="en-US" sz="2000" dirty="0"/>
          </a:p>
          <a:p>
            <a:pPr algn="just"/>
            <a:r>
              <a:rPr lang="en-US" sz="2000" dirty="0"/>
              <a:t>An activity may be </a:t>
            </a:r>
            <a:r>
              <a:rPr lang="en-US" sz="2000" i="1" dirty="0">
                <a:solidFill>
                  <a:schemeClr val="tx2">
                    <a:lumMod val="60000"/>
                    <a:lumOff val="40000"/>
                  </a:schemeClr>
                </a:solidFill>
              </a:rPr>
              <a:t>physical, such as </a:t>
            </a:r>
            <a:r>
              <a:rPr lang="en-US" sz="2000" i="1" dirty="0">
                <a:solidFill>
                  <a:srgbClr val="2D83F4"/>
                </a:solidFill>
              </a:rPr>
              <a:t>“Inspect Forms”</a:t>
            </a:r>
            <a:r>
              <a:rPr lang="en-US" sz="2000" i="1" dirty="0">
                <a:solidFill>
                  <a:schemeClr val="tx2">
                    <a:lumMod val="60000"/>
                    <a:lumOff val="40000"/>
                  </a:schemeClr>
                </a:solidFill>
              </a:rPr>
              <a:t>,</a:t>
            </a:r>
            <a:r>
              <a:rPr lang="en-US" sz="2000" dirty="0"/>
              <a:t> or </a:t>
            </a:r>
            <a:r>
              <a:rPr lang="en-US" sz="2000" i="1" dirty="0">
                <a:solidFill>
                  <a:schemeClr val="tx2">
                    <a:lumMod val="60000"/>
                    <a:lumOff val="40000"/>
                  </a:schemeClr>
                </a:solidFill>
              </a:rPr>
              <a:t>non-physical</a:t>
            </a:r>
            <a:r>
              <a:rPr lang="en-US" sz="2000" dirty="0"/>
              <a:t> (e.g., electronic) </a:t>
            </a:r>
            <a:r>
              <a:rPr lang="en-US" sz="2000" i="1" dirty="0">
                <a:solidFill>
                  <a:srgbClr val="2D83F4"/>
                </a:solidFill>
              </a:rPr>
              <a:t>such as “Display Create Student Screen”</a:t>
            </a:r>
            <a:r>
              <a:rPr lang="en-US" sz="2000" dirty="0"/>
              <a:t>.</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10</a:t>
            </a:fld>
            <a:endParaRPr lang="en-US">
              <a:latin typeface="Calibri"/>
            </a:endParaRPr>
          </a:p>
        </p:txBody>
      </p:sp>
    </p:spTree>
    <p:extLst>
      <p:ext uri="{BB962C8B-B14F-4D97-AF65-F5344CB8AC3E}">
        <p14:creationId xmlns:p14="http://schemas.microsoft.com/office/powerpoint/2010/main" val="882043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Actions</a:t>
            </a:r>
          </a:p>
        </p:txBody>
      </p:sp>
      <p:sp>
        <p:nvSpPr>
          <p:cNvPr id="3" name="Content Placeholder 2"/>
          <p:cNvSpPr>
            <a:spLocks noGrp="1"/>
          </p:cNvSpPr>
          <p:nvPr>
            <p:ph idx="1"/>
          </p:nvPr>
        </p:nvSpPr>
        <p:spPr/>
        <p:txBody>
          <a:bodyPr>
            <a:normAutofit/>
          </a:bodyPr>
          <a:lstStyle/>
          <a:p>
            <a:pPr algn="just"/>
            <a:r>
              <a:rPr lang="en-US" sz="2000" dirty="0"/>
              <a:t>An action represents </a:t>
            </a:r>
            <a:r>
              <a:rPr lang="en-US" sz="2000" i="1" dirty="0">
                <a:solidFill>
                  <a:srgbClr val="2D83F4"/>
                </a:solidFill>
              </a:rPr>
              <a:t>a single step within an activity</a:t>
            </a:r>
            <a:r>
              <a:rPr lang="en-US" sz="2000" dirty="0"/>
              <a:t>, that is, one that is not further decomposed within the activity. </a:t>
            </a:r>
            <a:endParaRPr lang="tr-TR" sz="2000" dirty="0"/>
          </a:p>
          <a:p>
            <a:pPr marL="114300" indent="0" algn="just">
              <a:buNone/>
            </a:pPr>
            <a:endParaRPr lang="en-GB" sz="2000" dirty="0"/>
          </a:p>
          <a:p>
            <a:pPr algn="just"/>
            <a:r>
              <a:rPr lang="en-US" sz="2000" dirty="0"/>
              <a:t>Actions are denoted by </a:t>
            </a:r>
            <a:r>
              <a:rPr lang="en-US" sz="2000" i="1" dirty="0">
                <a:solidFill>
                  <a:srgbClr val="2D83F4"/>
                </a:solidFill>
              </a:rPr>
              <a:t>round-cornered rectangles</a:t>
            </a:r>
            <a:r>
              <a:rPr lang="en-US" sz="2000" dirty="0"/>
              <a:t> with a descriptive name </a:t>
            </a:r>
            <a:r>
              <a:rPr lang="en-US" sz="2000" i="1" dirty="0">
                <a:solidFill>
                  <a:schemeClr val="tx2">
                    <a:lumMod val="60000"/>
                    <a:lumOff val="40000"/>
                  </a:schemeClr>
                </a:solidFill>
              </a:rPr>
              <a:t>(noun and verb phrase) </a:t>
            </a:r>
            <a:r>
              <a:rPr lang="en-US" sz="2000" dirty="0"/>
              <a:t>for the action inside.</a:t>
            </a:r>
          </a:p>
          <a:p>
            <a:pPr algn="just"/>
            <a:endParaRPr lang="en-US" sz="2000" dirty="0"/>
          </a:p>
          <a:p>
            <a:pPr algn="just"/>
            <a:r>
              <a:rPr lang="en-US" sz="2000" dirty="0"/>
              <a:t>The execution of an action </a:t>
            </a:r>
            <a:r>
              <a:rPr lang="en-US" sz="2000" i="1" dirty="0">
                <a:solidFill>
                  <a:srgbClr val="2D83F4"/>
                </a:solidFill>
              </a:rPr>
              <a:t>represents some transformations </a:t>
            </a:r>
            <a:r>
              <a:rPr lang="en-US" sz="2000" dirty="0"/>
              <a:t>or</a:t>
            </a:r>
            <a:r>
              <a:rPr lang="en-US" sz="2000" i="1" dirty="0">
                <a:solidFill>
                  <a:srgbClr val="2D83F4"/>
                </a:solidFill>
              </a:rPr>
              <a:t> processes</a:t>
            </a:r>
            <a:r>
              <a:rPr lang="en-US" sz="2000" dirty="0"/>
              <a:t> in the modeled system (creating objects, setting attribute values, linking objects together, invoking user-defined behaviors, etc.).</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11</a:t>
            </a:fld>
            <a:endParaRPr lang="en-US">
              <a:latin typeface="Calibri"/>
            </a:endParaRPr>
          </a:p>
        </p:txBody>
      </p:sp>
    </p:spTree>
    <p:extLst>
      <p:ext uri="{BB962C8B-B14F-4D97-AF65-F5344CB8AC3E}">
        <p14:creationId xmlns:p14="http://schemas.microsoft.com/office/powerpoint/2010/main" val="495046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Actions - 2</a:t>
            </a:r>
          </a:p>
        </p:txBody>
      </p:sp>
      <p:sp>
        <p:nvSpPr>
          <p:cNvPr id="3" name="Content Placeholder 2"/>
          <p:cNvSpPr>
            <a:spLocks noGrp="1"/>
          </p:cNvSpPr>
          <p:nvPr>
            <p:ph idx="1"/>
          </p:nvPr>
        </p:nvSpPr>
        <p:spPr/>
        <p:txBody>
          <a:bodyPr/>
          <a:lstStyle/>
          <a:p>
            <a:pPr algn="just"/>
            <a:r>
              <a:rPr lang="en-GB" sz="2000" dirty="0"/>
              <a:t>An action is a unit of work that needs to be carried out.</a:t>
            </a:r>
          </a:p>
          <a:p>
            <a:pPr algn="just"/>
            <a:endParaRPr lang="en-GB" sz="2000" dirty="0"/>
          </a:p>
          <a:p>
            <a:pPr algn="just"/>
            <a:r>
              <a:rPr lang="en-GB" sz="2000" dirty="0"/>
              <a:t>In practice, this can be large or small, taking place over a long or short period of time. </a:t>
            </a:r>
          </a:p>
          <a:p>
            <a:pPr lvl="1" algn="just"/>
            <a:r>
              <a:rPr lang="en-GB" sz="1800" i="1" dirty="0">
                <a:solidFill>
                  <a:srgbClr val="2D83F4"/>
                </a:solidFill>
              </a:rPr>
              <a:t>A business action, such as debt recovery, might take many weeks. </a:t>
            </a:r>
          </a:p>
          <a:p>
            <a:pPr lvl="1" algn="just"/>
            <a:r>
              <a:rPr lang="en-GB" sz="1800" i="1" dirty="0">
                <a:solidFill>
                  <a:srgbClr val="2D83F4"/>
                </a:solidFill>
              </a:rPr>
              <a:t>A computer action, such as changing an attribute of a customer, can be almost instantaneous.</a:t>
            </a:r>
          </a:p>
          <a:p>
            <a:pPr lvl="1" algn="just"/>
            <a:endParaRPr lang="en-GB" sz="1800" i="1" dirty="0">
              <a:solidFill>
                <a:srgbClr val="2D83F4"/>
              </a:solidFill>
            </a:endParaRPr>
          </a:p>
          <a:p>
            <a:pPr algn="just"/>
            <a:r>
              <a:rPr lang="en-GB" sz="2000" i="1" dirty="0">
                <a:solidFill>
                  <a:srgbClr val="2D83F4"/>
                </a:solidFill>
              </a:rPr>
              <a:t>However, in activity diagrams we can not show durations of actions.</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12</a:t>
            </a:fld>
            <a:endParaRPr lang="en-US">
              <a:latin typeface="Calibri"/>
            </a:endParaRPr>
          </a:p>
        </p:txBody>
      </p:sp>
    </p:spTree>
    <p:extLst>
      <p:ext uri="{BB962C8B-B14F-4D97-AF65-F5344CB8AC3E}">
        <p14:creationId xmlns:p14="http://schemas.microsoft.com/office/powerpoint/2010/main" val="4130734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Objects</a:t>
            </a:r>
          </a:p>
        </p:txBody>
      </p:sp>
      <p:sp>
        <p:nvSpPr>
          <p:cNvPr id="3" name="Content Placeholder 2"/>
          <p:cNvSpPr>
            <a:spLocks noGrp="1"/>
          </p:cNvSpPr>
          <p:nvPr>
            <p:ph idx="1"/>
          </p:nvPr>
        </p:nvSpPr>
        <p:spPr/>
        <p:txBody>
          <a:bodyPr>
            <a:normAutofit/>
          </a:bodyPr>
          <a:lstStyle/>
          <a:p>
            <a:pPr algn="just"/>
            <a:r>
              <a:rPr lang="en-GB" sz="2000" dirty="0"/>
              <a:t>Sometimes it is useful to indicate on an activity where an action impacts an object.</a:t>
            </a:r>
          </a:p>
          <a:p>
            <a:pPr lvl="1" algn="just"/>
            <a:r>
              <a:rPr lang="en-GB" i="1" dirty="0">
                <a:solidFill>
                  <a:srgbClr val="2D83F4"/>
                </a:solidFill>
              </a:rPr>
              <a:t>Objects don’t have to be software objects, they can be physical things such as a bill, a paper document and a hardware. </a:t>
            </a:r>
          </a:p>
          <a:p>
            <a:pPr algn="just"/>
            <a:endParaRPr lang="en-GB" sz="2000" dirty="0"/>
          </a:p>
          <a:p>
            <a:pPr algn="just"/>
            <a:r>
              <a:rPr lang="en-GB" sz="2000" dirty="0"/>
              <a:t>This is done by placing an object on the diagram </a:t>
            </a:r>
            <a:r>
              <a:rPr lang="en-GB" sz="2000" i="1" dirty="0">
                <a:solidFill>
                  <a:srgbClr val="2D83F4"/>
                </a:solidFill>
              </a:rPr>
              <a:t>(a rectangle)</a:t>
            </a:r>
            <a:r>
              <a:rPr lang="en-GB" sz="2000" dirty="0"/>
              <a:t> and linking it to an action by a </a:t>
            </a:r>
            <a:r>
              <a:rPr lang="en-GB" sz="2000" i="1" dirty="0">
                <a:solidFill>
                  <a:srgbClr val="2D83F4"/>
                </a:solidFill>
              </a:rPr>
              <a:t>dependency relationship</a:t>
            </a:r>
            <a:r>
              <a:rPr lang="en-GB" sz="2000" dirty="0"/>
              <a:t>.</a:t>
            </a:r>
          </a:p>
          <a:p>
            <a:pPr lvl="1" algn="just"/>
            <a:r>
              <a:rPr lang="en-GB" i="1" dirty="0">
                <a:solidFill>
                  <a:srgbClr val="2D83F4"/>
                </a:solidFill>
              </a:rPr>
              <a:t>Such dependencies are known as object flows because they indicate how an object is used in a flow of control.</a:t>
            </a:r>
            <a:r>
              <a:rPr lang="en-GB" dirty="0"/>
              <a:t> </a:t>
            </a:r>
          </a:p>
          <a:p>
            <a:pPr algn="just"/>
            <a:endParaRPr lang="en-GB" sz="2000" dirty="0"/>
          </a:p>
          <a:p>
            <a:pPr algn="just"/>
            <a:r>
              <a:rPr lang="en-GB" sz="2000" i="1" dirty="0">
                <a:solidFill>
                  <a:srgbClr val="2D83F4"/>
                </a:solidFill>
              </a:rPr>
              <a:t>An object node is labelled by its class name. </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13</a:t>
            </a:fld>
            <a:endParaRPr lang="en-US">
              <a:latin typeface="Calibri"/>
            </a:endParaRPr>
          </a:p>
        </p:txBody>
      </p:sp>
    </p:spTree>
    <p:extLst>
      <p:ext uri="{BB962C8B-B14F-4D97-AF65-F5344CB8AC3E}">
        <p14:creationId xmlns:p14="http://schemas.microsoft.com/office/powerpoint/2010/main" val="2004464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Edges (Flows) </a:t>
            </a:r>
          </a:p>
        </p:txBody>
      </p:sp>
      <p:sp>
        <p:nvSpPr>
          <p:cNvPr id="3" name="Content Placeholder 2"/>
          <p:cNvSpPr>
            <a:spLocks noGrp="1"/>
          </p:cNvSpPr>
          <p:nvPr>
            <p:ph idx="1"/>
          </p:nvPr>
        </p:nvSpPr>
        <p:spPr/>
        <p:txBody>
          <a:bodyPr/>
          <a:lstStyle/>
          <a:p>
            <a:pPr algn="just"/>
            <a:r>
              <a:rPr lang="en-US" sz="2000" dirty="0"/>
              <a:t>A transition between action states is called an activity edge, which is represented as </a:t>
            </a:r>
            <a:r>
              <a:rPr lang="en-US" sz="2000" i="1" dirty="0">
                <a:solidFill>
                  <a:schemeClr val="tx2">
                    <a:lumMod val="60000"/>
                    <a:lumOff val="40000"/>
                  </a:schemeClr>
                </a:solidFill>
              </a:rPr>
              <a:t>a straight line ending with an arrow </a:t>
            </a:r>
            <a:r>
              <a:rPr lang="en-US" sz="2000" dirty="0"/>
              <a:t>that points to the next state.</a:t>
            </a:r>
          </a:p>
          <a:p>
            <a:pPr algn="just"/>
            <a:endParaRPr lang="en-US" sz="2000" dirty="0"/>
          </a:p>
          <a:p>
            <a:pPr algn="just"/>
            <a:r>
              <a:rPr lang="en-US" sz="2000" dirty="0"/>
              <a:t>Elements are connected by activity edges to form flows.</a:t>
            </a:r>
          </a:p>
          <a:p>
            <a:pPr algn="just"/>
            <a:endParaRPr lang="en-US" sz="2000" dirty="0"/>
          </a:p>
          <a:p>
            <a:pPr algn="just"/>
            <a:r>
              <a:rPr lang="en-US" sz="2000" dirty="0"/>
              <a:t>Activity edges </a:t>
            </a:r>
            <a:r>
              <a:rPr lang="en-US" sz="2000" i="1" dirty="0">
                <a:solidFill>
                  <a:srgbClr val="2D83F4"/>
                </a:solidFill>
              </a:rPr>
              <a:t>can not have events</a:t>
            </a:r>
            <a:r>
              <a:rPr lang="en-US" sz="2000" dirty="0"/>
              <a:t> associated with them, but they </a:t>
            </a:r>
            <a:r>
              <a:rPr lang="en-US" sz="2000" i="1" dirty="0">
                <a:solidFill>
                  <a:srgbClr val="2D83F4"/>
                </a:solidFill>
              </a:rPr>
              <a:t>can have guard conditions</a:t>
            </a:r>
            <a:r>
              <a:rPr lang="en-US" sz="2000" dirty="0"/>
              <a:t>.</a:t>
            </a:r>
          </a:p>
          <a:p>
            <a:pPr algn="just"/>
            <a:endParaRPr lang="en-US" sz="2000" dirty="0"/>
          </a:p>
          <a:p>
            <a:pPr algn="just"/>
            <a:r>
              <a:rPr lang="en-US" sz="2000" dirty="0"/>
              <a:t>There are two kinds of edges: </a:t>
            </a:r>
            <a:r>
              <a:rPr lang="en-US" sz="2000" i="1" dirty="0">
                <a:solidFill>
                  <a:srgbClr val="2D83F4"/>
                </a:solidFill>
              </a:rPr>
              <a:t>control </a:t>
            </a:r>
            <a:r>
              <a:rPr lang="en-US" sz="2000" dirty="0"/>
              <a:t>and </a:t>
            </a:r>
            <a:r>
              <a:rPr lang="en-US" sz="2000" i="1" dirty="0">
                <a:solidFill>
                  <a:srgbClr val="2D83F4"/>
                </a:solidFill>
              </a:rPr>
              <a:t>object edges</a:t>
            </a:r>
            <a:r>
              <a:rPr lang="en-US" sz="2000" dirty="0"/>
              <a:t>.</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14</a:t>
            </a:fld>
            <a:endParaRPr lang="en-US">
              <a:latin typeface="Calibri"/>
            </a:endParaRPr>
          </a:p>
        </p:txBody>
      </p:sp>
      <p:grpSp>
        <p:nvGrpSpPr>
          <p:cNvPr id="22" name="Group 21"/>
          <p:cNvGrpSpPr/>
          <p:nvPr/>
        </p:nvGrpSpPr>
        <p:grpSpPr>
          <a:xfrm>
            <a:off x="3239852" y="5301208"/>
            <a:ext cx="2664296" cy="936104"/>
            <a:chOff x="3347864" y="5301208"/>
            <a:chExt cx="2664296" cy="936104"/>
          </a:xfrm>
        </p:grpSpPr>
        <p:sp>
          <p:nvSpPr>
            <p:cNvPr id="19" name="Rounded Rectangle 18"/>
            <p:cNvSpPr/>
            <p:nvPr/>
          </p:nvSpPr>
          <p:spPr>
            <a:xfrm>
              <a:off x="3347864" y="5733256"/>
              <a:ext cx="1224136" cy="50405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Action 1</a:t>
              </a:r>
            </a:p>
          </p:txBody>
        </p:sp>
        <p:cxnSp>
          <p:nvCxnSpPr>
            <p:cNvPr id="20" name="Straight Arrow Connector 19"/>
            <p:cNvCxnSpPr>
              <a:stCxn id="19" idx="3"/>
            </p:cNvCxnSpPr>
            <p:nvPr/>
          </p:nvCxnSpPr>
          <p:spPr>
            <a:xfrm>
              <a:off x="4572000" y="5985284"/>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Rounded Rectangular Callout 20"/>
            <p:cNvSpPr/>
            <p:nvPr/>
          </p:nvSpPr>
          <p:spPr>
            <a:xfrm>
              <a:off x="4788024" y="5301208"/>
              <a:ext cx="1152128" cy="288032"/>
            </a:xfrm>
            <a:prstGeom prst="wedgeRoundRectCallout">
              <a:avLst>
                <a:gd name="adj1" fmla="val -3196"/>
                <a:gd name="adj2" fmla="val 1377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Edge</a:t>
              </a:r>
            </a:p>
          </p:txBody>
        </p:sp>
      </p:grpSp>
    </p:spTree>
    <p:extLst>
      <p:ext uri="{BB962C8B-B14F-4D97-AF65-F5344CB8AC3E}">
        <p14:creationId xmlns:p14="http://schemas.microsoft.com/office/powerpoint/2010/main" val="1636321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t>Control and Object Flow (Edge)</a:t>
            </a:r>
            <a:endParaRPr lang="en-US" sz="4400" dirty="0"/>
          </a:p>
        </p:txBody>
      </p:sp>
      <p:sp>
        <p:nvSpPr>
          <p:cNvPr id="3" name="Content Placeholder 2"/>
          <p:cNvSpPr>
            <a:spLocks noGrp="1"/>
          </p:cNvSpPr>
          <p:nvPr>
            <p:ph idx="1"/>
          </p:nvPr>
        </p:nvSpPr>
        <p:spPr/>
        <p:txBody>
          <a:bodyPr>
            <a:normAutofit/>
          </a:bodyPr>
          <a:lstStyle/>
          <a:p>
            <a:pPr algn="just"/>
            <a:r>
              <a:rPr lang="en-GB" sz="2000" dirty="0"/>
              <a:t>Control and object flow connector arrows are </a:t>
            </a:r>
            <a:r>
              <a:rPr lang="en-GB" sz="2000" i="1" dirty="0">
                <a:solidFill>
                  <a:srgbClr val="2D83F4"/>
                </a:solidFill>
              </a:rPr>
              <a:t>unidirectional</a:t>
            </a:r>
            <a:r>
              <a:rPr lang="en-GB" sz="2000" dirty="0"/>
              <a:t>.</a:t>
            </a:r>
          </a:p>
          <a:p>
            <a:pPr algn="just"/>
            <a:endParaRPr lang="en-GB" sz="2000" dirty="0"/>
          </a:p>
          <a:p>
            <a:pPr algn="just"/>
            <a:r>
              <a:rPr lang="en-GB" sz="2000" i="1" dirty="0">
                <a:solidFill>
                  <a:srgbClr val="2D83F4"/>
                </a:solidFill>
              </a:rPr>
              <a:t>A control flow (edge) </a:t>
            </a:r>
            <a:r>
              <a:rPr lang="en-GB" sz="2000" dirty="0"/>
              <a:t>shows the flow of control from </a:t>
            </a:r>
            <a:r>
              <a:rPr lang="en-GB" sz="2000" i="1" dirty="0">
                <a:solidFill>
                  <a:schemeClr val="tx2">
                    <a:lumMod val="60000"/>
                    <a:lumOff val="40000"/>
                  </a:schemeClr>
                </a:solidFill>
              </a:rPr>
              <a:t>one action</a:t>
            </a:r>
            <a:r>
              <a:rPr lang="en-GB" sz="2000" dirty="0"/>
              <a:t> </a:t>
            </a:r>
            <a:r>
              <a:rPr lang="en-GB" sz="2000" i="1" dirty="0">
                <a:solidFill>
                  <a:schemeClr val="tx2">
                    <a:lumMod val="60000"/>
                    <a:lumOff val="40000"/>
                  </a:schemeClr>
                </a:solidFill>
              </a:rPr>
              <a:t>to the next</a:t>
            </a:r>
            <a:r>
              <a:rPr lang="en-GB" sz="2000" dirty="0"/>
              <a:t>. </a:t>
            </a:r>
          </a:p>
          <a:p>
            <a:pPr algn="just"/>
            <a:endParaRPr lang="en-GB" sz="2000" dirty="0"/>
          </a:p>
          <a:p>
            <a:pPr marL="114300" indent="0" algn="just">
              <a:buNone/>
            </a:pPr>
            <a:endParaRPr lang="en-GB" sz="2000" dirty="0"/>
          </a:p>
          <a:p>
            <a:pPr marL="114300" indent="0" algn="just">
              <a:buNone/>
            </a:pPr>
            <a:endParaRPr lang="en-GB" sz="2000" dirty="0"/>
          </a:p>
          <a:p>
            <a:pPr algn="just"/>
            <a:r>
              <a:rPr lang="en-GB" sz="2000" i="1" dirty="0">
                <a:solidFill>
                  <a:srgbClr val="2D83F4"/>
                </a:solidFill>
              </a:rPr>
              <a:t>An object flow (edge) </a:t>
            </a:r>
            <a:r>
              <a:rPr lang="en-GB" sz="2000" dirty="0"/>
              <a:t>shows the flow of </a:t>
            </a:r>
            <a:r>
              <a:rPr lang="en-GB" sz="2000" i="1" dirty="0">
                <a:solidFill>
                  <a:schemeClr val="tx2">
                    <a:lumMod val="60000"/>
                    <a:lumOff val="40000"/>
                  </a:schemeClr>
                </a:solidFill>
              </a:rPr>
              <a:t>an object </a:t>
            </a:r>
            <a:r>
              <a:rPr lang="en-GB" sz="2000" dirty="0"/>
              <a:t>from one activity (or action) to another activity (or action).</a:t>
            </a: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15</a:t>
            </a:fld>
            <a:endParaRPr lang="en-US">
              <a:latin typeface="Calibri"/>
            </a:endParaRPr>
          </a:p>
        </p:txBody>
      </p:sp>
      <p:grpSp>
        <p:nvGrpSpPr>
          <p:cNvPr id="6" name="Group 5"/>
          <p:cNvGrpSpPr/>
          <p:nvPr/>
        </p:nvGrpSpPr>
        <p:grpSpPr>
          <a:xfrm>
            <a:off x="2339752" y="3068960"/>
            <a:ext cx="3888432" cy="864096"/>
            <a:chOff x="2051720" y="4725144"/>
            <a:chExt cx="3888432" cy="864096"/>
          </a:xfrm>
        </p:grpSpPr>
        <p:sp>
          <p:nvSpPr>
            <p:cNvPr id="7" name="Rounded Rectangle 6"/>
            <p:cNvSpPr/>
            <p:nvPr/>
          </p:nvSpPr>
          <p:spPr>
            <a:xfrm>
              <a:off x="2051720" y="5085184"/>
              <a:ext cx="1224136" cy="50405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Action 1</a:t>
              </a:r>
            </a:p>
          </p:txBody>
        </p:sp>
        <p:sp>
          <p:nvSpPr>
            <p:cNvPr id="8" name="Rounded Rectangle 7"/>
            <p:cNvSpPr/>
            <p:nvPr/>
          </p:nvSpPr>
          <p:spPr>
            <a:xfrm>
              <a:off x="4716016" y="5085184"/>
              <a:ext cx="1224136" cy="50405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Action 2</a:t>
              </a:r>
            </a:p>
          </p:txBody>
        </p:sp>
        <p:cxnSp>
          <p:nvCxnSpPr>
            <p:cNvPr id="9" name="Straight Arrow Connector 8"/>
            <p:cNvCxnSpPr>
              <a:stCxn id="7" idx="3"/>
              <a:endCxn id="8" idx="1"/>
            </p:cNvCxnSpPr>
            <p:nvPr/>
          </p:nvCxnSpPr>
          <p:spPr>
            <a:xfrm>
              <a:off x="3275856" y="5337212"/>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Rounded Rectangular Callout 9"/>
            <p:cNvSpPr/>
            <p:nvPr/>
          </p:nvSpPr>
          <p:spPr>
            <a:xfrm>
              <a:off x="3419872" y="4725144"/>
              <a:ext cx="1152128" cy="288032"/>
            </a:xfrm>
            <a:prstGeom prst="wedgeRoundRectCallout">
              <a:avLst>
                <a:gd name="adj1" fmla="val -3196"/>
                <a:gd name="adj2" fmla="val 1377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Control Flow</a:t>
              </a:r>
            </a:p>
          </p:txBody>
        </p:sp>
      </p:grpSp>
      <p:grpSp>
        <p:nvGrpSpPr>
          <p:cNvPr id="11" name="Group 10"/>
          <p:cNvGrpSpPr/>
          <p:nvPr/>
        </p:nvGrpSpPr>
        <p:grpSpPr>
          <a:xfrm>
            <a:off x="2339752" y="4941168"/>
            <a:ext cx="3888432" cy="864096"/>
            <a:chOff x="2195736" y="5013176"/>
            <a:chExt cx="3888432" cy="864096"/>
          </a:xfrm>
        </p:grpSpPr>
        <p:sp>
          <p:nvSpPr>
            <p:cNvPr id="12" name="Rounded Rectangle 11"/>
            <p:cNvSpPr/>
            <p:nvPr/>
          </p:nvSpPr>
          <p:spPr>
            <a:xfrm>
              <a:off x="4860032" y="5373216"/>
              <a:ext cx="1224136" cy="50405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Action</a:t>
              </a:r>
            </a:p>
          </p:txBody>
        </p:sp>
        <p:cxnSp>
          <p:nvCxnSpPr>
            <p:cNvPr id="13" name="Straight Arrow Connector 12"/>
            <p:cNvCxnSpPr>
              <a:stCxn id="15" idx="3"/>
              <a:endCxn id="12" idx="1"/>
            </p:cNvCxnSpPr>
            <p:nvPr/>
          </p:nvCxnSpPr>
          <p:spPr>
            <a:xfrm>
              <a:off x="3419872" y="5625244"/>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ounded Rectangular Callout 13"/>
            <p:cNvSpPr/>
            <p:nvPr/>
          </p:nvSpPr>
          <p:spPr>
            <a:xfrm>
              <a:off x="3563888" y="5013176"/>
              <a:ext cx="1152128" cy="288032"/>
            </a:xfrm>
            <a:prstGeom prst="wedgeRoundRectCallout">
              <a:avLst>
                <a:gd name="adj1" fmla="val -3196"/>
                <a:gd name="adj2" fmla="val 1377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Object Flow</a:t>
              </a:r>
            </a:p>
          </p:txBody>
        </p:sp>
        <p:sp>
          <p:nvSpPr>
            <p:cNvPr id="15" name="Rectangle 14"/>
            <p:cNvSpPr/>
            <p:nvPr/>
          </p:nvSpPr>
          <p:spPr>
            <a:xfrm>
              <a:off x="2195736" y="5373216"/>
              <a:ext cx="1224136" cy="5040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Object</a:t>
              </a:r>
            </a:p>
          </p:txBody>
        </p:sp>
      </p:grpSp>
    </p:spTree>
    <p:extLst>
      <p:ext uri="{BB962C8B-B14F-4D97-AF65-F5344CB8AC3E}">
        <p14:creationId xmlns:p14="http://schemas.microsoft.com/office/powerpoint/2010/main" val="1503150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a:solidFill>
                  <a:srgbClr val="073E87"/>
                </a:solidFill>
              </a:rPr>
              <a:t>Parameter Nodes</a:t>
            </a:r>
          </a:p>
        </p:txBody>
      </p:sp>
      <p:sp>
        <p:nvSpPr>
          <p:cNvPr id="3" name="Content Placeholder 2"/>
          <p:cNvSpPr>
            <a:spLocks noGrp="1"/>
          </p:cNvSpPr>
          <p:nvPr>
            <p:ph idx="1"/>
          </p:nvPr>
        </p:nvSpPr>
        <p:spPr/>
        <p:txBody>
          <a:bodyPr>
            <a:normAutofit/>
          </a:bodyPr>
          <a:lstStyle/>
          <a:p>
            <a:pPr algn="just"/>
            <a:r>
              <a:rPr lang="en-US" sz="2000" dirty="0"/>
              <a:t>Activity parameter nodes are </a:t>
            </a:r>
            <a:r>
              <a:rPr lang="en-US" sz="2000" i="1" dirty="0">
                <a:solidFill>
                  <a:schemeClr val="tx2">
                    <a:lumMod val="60000"/>
                    <a:lumOff val="40000"/>
                  </a:schemeClr>
                </a:solidFill>
              </a:rPr>
              <a:t>object nodes </a:t>
            </a:r>
            <a:r>
              <a:rPr lang="en-US" sz="2000" i="1" dirty="0">
                <a:solidFill>
                  <a:srgbClr val="2D83F4"/>
                </a:solidFill>
              </a:rPr>
              <a:t>at the beginning </a:t>
            </a:r>
            <a:r>
              <a:rPr lang="en-US" sz="2000" dirty="0"/>
              <a:t>and </a:t>
            </a:r>
            <a:r>
              <a:rPr lang="en-US" sz="2000" i="1" dirty="0">
                <a:solidFill>
                  <a:srgbClr val="2D83F4"/>
                </a:solidFill>
              </a:rPr>
              <a:t>end </a:t>
            </a:r>
            <a:r>
              <a:rPr lang="en-US" sz="2000" dirty="0"/>
              <a:t>of flows that provide a means to accept </a:t>
            </a:r>
            <a:r>
              <a:rPr lang="en-US" sz="2000" i="1" dirty="0">
                <a:solidFill>
                  <a:srgbClr val="2D83F4"/>
                </a:solidFill>
              </a:rPr>
              <a:t>inputs to an activity </a:t>
            </a:r>
            <a:r>
              <a:rPr lang="en-US" sz="2000" dirty="0"/>
              <a:t>and </a:t>
            </a:r>
            <a:r>
              <a:rPr lang="en-US" sz="2000" i="1" dirty="0">
                <a:solidFill>
                  <a:srgbClr val="2D83F4"/>
                </a:solidFill>
              </a:rPr>
              <a:t>provide outputs from the activity</a:t>
            </a:r>
            <a:r>
              <a:rPr lang="en-US" sz="2000" dirty="0"/>
              <a:t>, through the activity parameters.</a:t>
            </a:r>
          </a:p>
        </p:txBody>
      </p:sp>
      <p:sp>
        <p:nvSpPr>
          <p:cNvPr id="10" name="Footer Placeholder 9"/>
          <p:cNvSpPr>
            <a:spLocks noGrp="1"/>
          </p:cNvSpPr>
          <p:nvPr>
            <p:ph type="ftr" sz="quarter" idx="11"/>
          </p:nvPr>
        </p:nvSpPr>
        <p:spPr/>
        <p:txBody>
          <a:bodyPr/>
          <a:lstStyle/>
          <a:p>
            <a:r>
              <a:rPr lang="en-US">
                <a:solidFill>
                  <a:srgbClr val="C6E7FC"/>
                </a:solidFill>
                <a:latin typeface="Calibri"/>
              </a:rPr>
              <a:t>Unified Modeling Language</a:t>
            </a:r>
          </a:p>
        </p:txBody>
      </p:sp>
      <p:sp>
        <p:nvSpPr>
          <p:cNvPr id="12" name="Slide Number Placeholder 11"/>
          <p:cNvSpPr>
            <a:spLocks noGrp="1"/>
          </p:cNvSpPr>
          <p:nvPr>
            <p:ph type="sldNum" sz="quarter" idx="12"/>
          </p:nvPr>
        </p:nvSpPr>
        <p:spPr/>
        <p:txBody>
          <a:bodyPr/>
          <a:lstStyle/>
          <a:p>
            <a:fld id="{4A822907-8A9D-4F6B-98F6-913902AD56B5}" type="slidenum">
              <a:rPr lang="en-US" smtClean="0">
                <a:latin typeface="Calibri"/>
              </a:rPr>
              <a:pPr/>
              <a:t>16</a:t>
            </a:fld>
            <a:endParaRPr lang="en-US">
              <a:latin typeface="Calibri"/>
            </a:endParaRPr>
          </a:p>
        </p:txBody>
      </p:sp>
      <p:grpSp>
        <p:nvGrpSpPr>
          <p:cNvPr id="16" name="Group 15"/>
          <p:cNvGrpSpPr/>
          <p:nvPr/>
        </p:nvGrpSpPr>
        <p:grpSpPr>
          <a:xfrm>
            <a:off x="395536" y="3429000"/>
            <a:ext cx="7704856" cy="2808312"/>
            <a:chOff x="539552" y="2132856"/>
            <a:chExt cx="7704856" cy="2808312"/>
          </a:xfrm>
        </p:grpSpPr>
        <p:sp>
          <p:nvSpPr>
            <p:cNvPr id="17" name="Rounded Rectangle 16"/>
            <p:cNvSpPr/>
            <p:nvPr/>
          </p:nvSpPr>
          <p:spPr>
            <a:xfrm>
              <a:off x="971600" y="2132856"/>
              <a:ext cx="6840760" cy="280831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dirty="0">
                  <a:solidFill>
                    <a:schemeClr val="tx2">
                      <a:lumMod val="60000"/>
                      <a:lumOff val="40000"/>
                    </a:schemeClr>
                  </a:solidFill>
                </a:rPr>
                <a:t>Process Paper</a:t>
              </a:r>
            </a:p>
          </p:txBody>
        </p:sp>
        <p:sp>
          <p:nvSpPr>
            <p:cNvPr id="18" name="Rectangle 17"/>
            <p:cNvSpPr/>
            <p:nvPr/>
          </p:nvSpPr>
          <p:spPr>
            <a:xfrm>
              <a:off x="539552" y="3284984"/>
              <a:ext cx="864096" cy="576064"/>
            </a:xfrm>
            <a:prstGeom prst="rect">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Wood</a:t>
              </a:r>
            </a:p>
          </p:txBody>
        </p:sp>
        <p:sp>
          <p:nvSpPr>
            <p:cNvPr id="19" name="Rounded Rectangle 18"/>
            <p:cNvSpPr/>
            <p:nvPr/>
          </p:nvSpPr>
          <p:spPr>
            <a:xfrm>
              <a:off x="1979712" y="3284984"/>
              <a:ext cx="1224136" cy="57606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Create Pulp</a:t>
              </a:r>
            </a:p>
          </p:txBody>
        </p:sp>
        <p:sp>
          <p:nvSpPr>
            <p:cNvPr id="20" name="Rounded Rectangle 19"/>
            <p:cNvSpPr/>
            <p:nvPr/>
          </p:nvSpPr>
          <p:spPr>
            <a:xfrm>
              <a:off x="3779912" y="3284984"/>
              <a:ext cx="1224136" cy="57606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Press Paper</a:t>
              </a:r>
            </a:p>
          </p:txBody>
        </p:sp>
        <p:sp>
          <p:nvSpPr>
            <p:cNvPr id="21" name="Rounded Rectangle 20"/>
            <p:cNvSpPr/>
            <p:nvPr/>
          </p:nvSpPr>
          <p:spPr>
            <a:xfrm>
              <a:off x="5580112" y="3284984"/>
              <a:ext cx="1224136" cy="57606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Package Reams</a:t>
              </a:r>
            </a:p>
          </p:txBody>
        </p:sp>
        <p:sp>
          <p:nvSpPr>
            <p:cNvPr id="22" name="Rectangle 21"/>
            <p:cNvSpPr/>
            <p:nvPr/>
          </p:nvSpPr>
          <p:spPr>
            <a:xfrm>
              <a:off x="7380312" y="3284984"/>
              <a:ext cx="864096" cy="576064"/>
            </a:xfrm>
            <a:prstGeom prst="rect">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Ream</a:t>
              </a:r>
            </a:p>
          </p:txBody>
        </p:sp>
        <p:cxnSp>
          <p:nvCxnSpPr>
            <p:cNvPr id="23" name="Straight Arrow Connector 22"/>
            <p:cNvCxnSpPr>
              <a:stCxn id="18" idx="3"/>
              <a:endCxn id="19" idx="1"/>
            </p:cNvCxnSpPr>
            <p:nvPr/>
          </p:nvCxnSpPr>
          <p:spPr>
            <a:xfrm>
              <a:off x="1403648" y="3573016"/>
              <a:ext cx="57606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21" idx="3"/>
              <a:endCxn id="22" idx="1"/>
            </p:cNvCxnSpPr>
            <p:nvPr/>
          </p:nvCxnSpPr>
          <p:spPr>
            <a:xfrm>
              <a:off x="6804248" y="3573016"/>
              <a:ext cx="576064"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19" idx="3"/>
              <a:endCxn id="20" idx="1"/>
            </p:cNvCxnSpPr>
            <p:nvPr/>
          </p:nvCxnSpPr>
          <p:spPr>
            <a:xfrm>
              <a:off x="3203848" y="3573016"/>
              <a:ext cx="576064"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20" idx="3"/>
              <a:endCxn id="21" idx="1"/>
            </p:cNvCxnSpPr>
            <p:nvPr/>
          </p:nvCxnSpPr>
          <p:spPr>
            <a:xfrm>
              <a:off x="5004048" y="3573016"/>
              <a:ext cx="576064"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
        <p:nvSpPr>
          <p:cNvPr id="29" name="Rounded Rectangular Callout 28"/>
          <p:cNvSpPr/>
          <p:nvPr/>
        </p:nvSpPr>
        <p:spPr>
          <a:xfrm>
            <a:off x="5652120" y="3933056"/>
            <a:ext cx="1584176" cy="317603"/>
          </a:xfrm>
          <a:prstGeom prst="wedgeRoundRectCallout">
            <a:avLst>
              <a:gd name="adj1" fmla="val 47269"/>
              <a:gd name="adj2" fmla="val 123667"/>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solidFill>
                  <a:schemeClr val="tx1"/>
                </a:solidFill>
              </a:rPr>
              <a:t>Parameter Node</a:t>
            </a:r>
          </a:p>
        </p:txBody>
      </p:sp>
      <p:sp>
        <p:nvSpPr>
          <p:cNvPr id="30" name="Rounded Rectangular Callout 29"/>
          <p:cNvSpPr/>
          <p:nvPr/>
        </p:nvSpPr>
        <p:spPr>
          <a:xfrm>
            <a:off x="827584" y="2780928"/>
            <a:ext cx="2016224" cy="389611"/>
          </a:xfrm>
          <a:prstGeom prst="wedgeRoundRectCallout">
            <a:avLst>
              <a:gd name="adj1" fmla="val 71498"/>
              <a:gd name="adj2" fmla="val 105144"/>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solidFill>
                  <a:schemeClr val="tx1"/>
                </a:solidFill>
              </a:rPr>
              <a:t>“Process Paper” Activity</a:t>
            </a:r>
          </a:p>
        </p:txBody>
      </p:sp>
      <p:sp>
        <p:nvSpPr>
          <p:cNvPr id="31" name="Rounded Rectangular Callout 30"/>
          <p:cNvSpPr/>
          <p:nvPr/>
        </p:nvSpPr>
        <p:spPr>
          <a:xfrm>
            <a:off x="5652120" y="5589240"/>
            <a:ext cx="1584176" cy="317603"/>
          </a:xfrm>
          <a:prstGeom prst="wedgeRoundRectCallout">
            <a:avLst>
              <a:gd name="adj1" fmla="val 47269"/>
              <a:gd name="adj2" fmla="val -143939"/>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solidFill>
                  <a:schemeClr val="tx1"/>
                </a:solidFill>
              </a:rPr>
              <a:t>Output</a:t>
            </a:r>
          </a:p>
        </p:txBody>
      </p:sp>
      <p:sp>
        <p:nvSpPr>
          <p:cNvPr id="34" name="Rounded Rectangular Callout 33"/>
          <p:cNvSpPr/>
          <p:nvPr/>
        </p:nvSpPr>
        <p:spPr>
          <a:xfrm>
            <a:off x="1259632" y="3933056"/>
            <a:ext cx="1584176" cy="317603"/>
          </a:xfrm>
          <a:prstGeom prst="wedgeRoundRectCallout">
            <a:avLst>
              <a:gd name="adj1" fmla="val -48932"/>
              <a:gd name="adj2" fmla="val 111364"/>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solidFill>
                  <a:schemeClr val="tx1"/>
                </a:solidFill>
              </a:rPr>
              <a:t>Parameter Node</a:t>
            </a:r>
          </a:p>
        </p:txBody>
      </p:sp>
      <p:sp>
        <p:nvSpPr>
          <p:cNvPr id="35" name="Rounded Rectangular Callout 34"/>
          <p:cNvSpPr/>
          <p:nvPr/>
        </p:nvSpPr>
        <p:spPr>
          <a:xfrm>
            <a:off x="1259632" y="5589240"/>
            <a:ext cx="1584176" cy="317603"/>
          </a:xfrm>
          <a:prstGeom prst="wedgeRoundRectCallout">
            <a:avLst>
              <a:gd name="adj1" fmla="val -48932"/>
              <a:gd name="adj2" fmla="val -137787"/>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solidFill>
                  <a:schemeClr val="tx1"/>
                </a:solidFill>
              </a:rPr>
              <a:t>Input</a:t>
            </a:r>
          </a:p>
        </p:txBody>
      </p:sp>
    </p:spTree>
    <p:extLst>
      <p:ext uri="{BB962C8B-B14F-4D97-AF65-F5344CB8AC3E}">
        <p14:creationId xmlns:p14="http://schemas.microsoft.com/office/powerpoint/2010/main" val="2995801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400" dirty="0"/>
              <a:t>Activity Initial, Final and Flow Final Nodes</a:t>
            </a:r>
          </a:p>
        </p:txBody>
      </p:sp>
      <p:sp>
        <p:nvSpPr>
          <p:cNvPr id="3" name="Content Placeholder 2"/>
          <p:cNvSpPr>
            <a:spLocks noGrp="1"/>
          </p:cNvSpPr>
          <p:nvPr>
            <p:ph idx="1"/>
          </p:nvPr>
        </p:nvSpPr>
        <p:spPr/>
        <p:txBody>
          <a:bodyPr>
            <a:normAutofit/>
          </a:bodyPr>
          <a:lstStyle/>
          <a:p>
            <a:pPr algn="just"/>
            <a:r>
              <a:rPr lang="en-GB" sz="2000" dirty="0"/>
              <a:t>The activity initial node is the entry point to the flow in an activity.</a:t>
            </a:r>
          </a:p>
          <a:p>
            <a:pPr lvl="1" algn="just"/>
            <a:r>
              <a:rPr lang="en-GB" sz="1800" i="1" dirty="0">
                <a:solidFill>
                  <a:srgbClr val="2D83F4"/>
                </a:solidFill>
              </a:rPr>
              <a:t>Only one initial node is allowed in an activity.  </a:t>
            </a:r>
          </a:p>
          <a:p>
            <a:pPr lvl="1" algn="just"/>
            <a:endParaRPr lang="en-GB" dirty="0">
              <a:solidFill>
                <a:srgbClr val="2D83F4"/>
              </a:solidFill>
            </a:endParaRPr>
          </a:p>
          <a:p>
            <a:pPr algn="just"/>
            <a:r>
              <a:rPr lang="en-GB" sz="2000" dirty="0"/>
              <a:t>Activity final nodes are drawn as black dots with a surrounding circle. </a:t>
            </a:r>
          </a:p>
          <a:p>
            <a:pPr lvl="1" algn="just"/>
            <a:r>
              <a:rPr lang="en-GB" sz="1800" i="1" dirty="0">
                <a:solidFill>
                  <a:srgbClr val="2D83F4"/>
                </a:solidFill>
              </a:rPr>
              <a:t>Because a flow may take alternative routes through an activity, the activity may terminate at more than one point. </a:t>
            </a:r>
          </a:p>
          <a:p>
            <a:pPr algn="just"/>
            <a:endParaRPr lang="en-GB" dirty="0">
              <a:solidFill>
                <a:srgbClr val="2D83F4"/>
              </a:solidFill>
            </a:endParaRPr>
          </a:p>
          <a:p>
            <a:pPr algn="just"/>
            <a:r>
              <a:rPr lang="en-GB" sz="2000" dirty="0">
                <a:solidFill>
                  <a:srgbClr val="000000"/>
                </a:solidFill>
              </a:rPr>
              <a:t>There can be </a:t>
            </a:r>
            <a:r>
              <a:rPr lang="en-GB" sz="2000" i="1" dirty="0">
                <a:solidFill>
                  <a:srgbClr val="2D83F4"/>
                </a:solidFill>
              </a:rPr>
              <a:t>multiple parallel flows</a:t>
            </a:r>
            <a:r>
              <a:rPr lang="en-GB" sz="2000" dirty="0">
                <a:solidFill>
                  <a:srgbClr val="000000"/>
                </a:solidFill>
              </a:rPr>
              <a:t> </a:t>
            </a:r>
            <a:r>
              <a:rPr lang="en-GB" sz="2000" i="1" dirty="0">
                <a:solidFill>
                  <a:srgbClr val="2D83F4"/>
                </a:solidFill>
              </a:rPr>
              <a:t>(see fork node)</a:t>
            </a:r>
            <a:r>
              <a:rPr lang="en-GB" sz="2000" dirty="0">
                <a:solidFill>
                  <a:srgbClr val="000000"/>
                </a:solidFill>
              </a:rPr>
              <a:t> executing in an activity, a flow may terminate while other flows continue. This is indicated by a flow final node.</a:t>
            </a:r>
          </a:p>
          <a:p>
            <a:pPr lvl="1" algn="just"/>
            <a:r>
              <a:rPr lang="en-GB" sz="1800" i="1" dirty="0">
                <a:solidFill>
                  <a:srgbClr val="2D83F4"/>
                </a:solidFill>
              </a:rPr>
              <a:t>A flow final node does not trigger the termination of the activity and has no effect on the other flows. </a:t>
            </a:r>
            <a:endParaRPr lang="en-GB" sz="1800" i="1" dirty="0">
              <a:solidFill>
                <a:srgbClr val="000000"/>
              </a:solidFill>
            </a:endParaRPr>
          </a:p>
        </p:txBody>
      </p:sp>
      <p:sp>
        <p:nvSpPr>
          <p:cNvPr id="10" name="Oval 9"/>
          <p:cNvSpPr/>
          <p:nvPr/>
        </p:nvSpPr>
        <p:spPr>
          <a:xfrm>
            <a:off x="323528" y="1772817"/>
            <a:ext cx="144016" cy="144016"/>
          </a:xfrm>
          <a:prstGeom prst="ellipse">
            <a:avLst/>
          </a:prstGeom>
          <a:solidFill>
            <a:schemeClr val="accent4">
              <a:lumMod val="75000"/>
            </a:schemeClr>
          </a:solidFill>
          <a:ln>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19" name="Group 18"/>
          <p:cNvGrpSpPr/>
          <p:nvPr/>
        </p:nvGrpSpPr>
        <p:grpSpPr>
          <a:xfrm>
            <a:off x="251520" y="2780929"/>
            <a:ext cx="288032" cy="288032"/>
            <a:chOff x="251520" y="2780928"/>
            <a:chExt cx="288032" cy="288032"/>
          </a:xfrm>
        </p:grpSpPr>
        <p:sp>
          <p:nvSpPr>
            <p:cNvPr id="11" name="Oval 10"/>
            <p:cNvSpPr/>
            <p:nvPr/>
          </p:nvSpPr>
          <p:spPr>
            <a:xfrm>
              <a:off x="251520" y="2780928"/>
              <a:ext cx="288032" cy="288032"/>
            </a:xfrm>
            <a:prstGeom prst="ellipse">
              <a:avLst/>
            </a:prstGeom>
            <a:no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Oval 11"/>
            <p:cNvSpPr/>
            <p:nvPr/>
          </p:nvSpPr>
          <p:spPr>
            <a:xfrm>
              <a:off x="323528" y="2852936"/>
              <a:ext cx="144016" cy="144016"/>
            </a:xfrm>
            <a:prstGeom prst="ellipse">
              <a:avLst/>
            </a:prstGeom>
            <a:solidFill>
              <a:schemeClr val="accent4">
                <a:lumMod val="75000"/>
              </a:schemeClr>
            </a:solid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grpSp>
        <p:nvGrpSpPr>
          <p:cNvPr id="18" name="Group 17"/>
          <p:cNvGrpSpPr/>
          <p:nvPr/>
        </p:nvGrpSpPr>
        <p:grpSpPr>
          <a:xfrm>
            <a:off x="251520" y="4437112"/>
            <a:ext cx="288032" cy="288032"/>
            <a:chOff x="251520" y="4437112"/>
            <a:chExt cx="288032" cy="288032"/>
          </a:xfrm>
        </p:grpSpPr>
        <p:sp>
          <p:nvSpPr>
            <p:cNvPr id="13" name="Oval 12"/>
            <p:cNvSpPr/>
            <p:nvPr/>
          </p:nvSpPr>
          <p:spPr>
            <a:xfrm>
              <a:off x="251520" y="4437112"/>
              <a:ext cx="288032" cy="288032"/>
            </a:xfrm>
            <a:prstGeom prst="ellipse">
              <a:avLst/>
            </a:prstGeom>
            <a:no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Multiply 13"/>
            <p:cNvSpPr/>
            <p:nvPr/>
          </p:nvSpPr>
          <p:spPr>
            <a:xfrm>
              <a:off x="251520" y="4437112"/>
              <a:ext cx="288032" cy="288032"/>
            </a:xfrm>
            <a:prstGeom prst="mathMultiply">
              <a:avLst/>
            </a:prstGeom>
            <a:solidFill>
              <a:srgbClr val="7C9C1E"/>
            </a:solid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17</a:t>
            </a:fld>
            <a:endParaRPr lang="en-US">
              <a:latin typeface="Calibri"/>
            </a:endParaRPr>
          </a:p>
        </p:txBody>
      </p:sp>
    </p:spTree>
    <p:extLst>
      <p:ext uri="{BB962C8B-B14F-4D97-AF65-F5344CB8AC3E}">
        <p14:creationId xmlns:p14="http://schemas.microsoft.com/office/powerpoint/2010/main" val="145084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 and Merge Nodes</a:t>
            </a:r>
          </a:p>
        </p:txBody>
      </p:sp>
      <p:sp>
        <p:nvSpPr>
          <p:cNvPr id="3" name="Content Placeholder 2"/>
          <p:cNvSpPr>
            <a:spLocks noGrp="1"/>
          </p:cNvSpPr>
          <p:nvPr>
            <p:ph idx="1"/>
          </p:nvPr>
        </p:nvSpPr>
        <p:spPr/>
        <p:txBody>
          <a:bodyPr>
            <a:normAutofit/>
          </a:bodyPr>
          <a:lstStyle/>
          <a:p>
            <a:pPr algn="just"/>
            <a:r>
              <a:rPr lang="en-GB" sz="2000" dirty="0"/>
              <a:t>A decision node is used to represent a </a:t>
            </a:r>
            <a:r>
              <a:rPr lang="en-GB" sz="2000" i="1" dirty="0">
                <a:solidFill>
                  <a:schemeClr val="tx2">
                    <a:lumMod val="60000"/>
                    <a:lumOff val="40000"/>
                  </a:schemeClr>
                </a:solidFill>
              </a:rPr>
              <a:t>test condition</a:t>
            </a:r>
            <a:r>
              <a:rPr lang="en-GB" sz="2000" dirty="0"/>
              <a:t> to ensure that the control flow or object flow only goes down one path. </a:t>
            </a:r>
          </a:p>
          <a:p>
            <a:pPr marL="411480" lvl="1" indent="0" algn="just">
              <a:buNone/>
            </a:pPr>
            <a:endParaRPr lang="en-GB" dirty="0">
              <a:solidFill>
                <a:schemeClr val="tx2">
                  <a:lumMod val="60000"/>
                  <a:lumOff val="40000"/>
                </a:schemeClr>
              </a:solidFill>
            </a:endParaRPr>
          </a:p>
          <a:p>
            <a:pPr algn="just"/>
            <a:r>
              <a:rPr lang="en-GB" sz="2000" dirty="0"/>
              <a:t>Decision nodes are </a:t>
            </a:r>
            <a:r>
              <a:rPr lang="en-GB" sz="2000" i="1" dirty="0">
                <a:solidFill>
                  <a:schemeClr val="tx2">
                    <a:lumMod val="60000"/>
                    <a:lumOff val="40000"/>
                  </a:schemeClr>
                </a:solidFill>
              </a:rPr>
              <a:t>represented by diamonds</a:t>
            </a:r>
            <a:r>
              <a:rPr lang="en-GB" sz="2000" dirty="0"/>
              <a:t> and labelled with the decision criteria</a:t>
            </a:r>
            <a:r>
              <a:rPr lang="en-GB" sz="2000" i="1" dirty="0">
                <a:solidFill>
                  <a:schemeClr val="tx2">
                    <a:lumMod val="60000"/>
                    <a:lumOff val="40000"/>
                  </a:schemeClr>
                </a:solidFill>
              </a:rPr>
              <a:t> (also known as guard condition</a:t>
            </a:r>
            <a:r>
              <a:rPr lang="en-GB" sz="2000" i="1" dirty="0">
                <a:solidFill>
                  <a:srgbClr val="2D83F4"/>
                </a:solidFill>
              </a:rPr>
              <a:t>)</a:t>
            </a:r>
            <a:r>
              <a:rPr lang="en-GB" sz="2000" dirty="0">
                <a:solidFill>
                  <a:srgbClr val="000000"/>
                </a:solidFill>
              </a:rPr>
              <a:t> to continue down the specific path</a:t>
            </a:r>
            <a:r>
              <a:rPr lang="en-GB" sz="2000" i="1" dirty="0"/>
              <a:t>.</a:t>
            </a:r>
            <a:endParaRPr lang="en-GB" sz="2000" i="1" dirty="0">
              <a:solidFill>
                <a:srgbClr val="2D83F4"/>
              </a:solidFill>
            </a:endParaRPr>
          </a:p>
          <a:p>
            <a:pPr lvl="1" algn="just"/>
            <a:r>
              <a:rPr lang="en-GB" sz="1800" i="1" dirty="0">
                <a:solidFill>
                  <a:srgbClr val="2D83F4"/>
                </a:solidFill>
              </a:rPr>
              <a:t>Guard conditions are represented by square brackets.</a:t>
            </a:r>
          </a:p>
          <a:p>
            <a:pPr lvl="1" algn="just"/>
            <a:r>
              <a:rPr lang="en-GB" sz="1800" i="1" dirty="0">
                <a:solidFill>
                  <a:srgbClr val="2D83F4"/>
                </a:solidFill>
              </a:rPr>
              <a:t>A single transition enters each diamond and multiple transitions come out.</a:t>
            </a:r>
          </a:p>
        </p:txBody>
      </p:sp>
      <p:grpSp>
        <p:nvGrpSpPr>
          <p:cNvPr id="4" name="Group 3"/>
          <p:cNvGrpSpPr/>
          <p:nvPr/>
        </p:nvGrpSpPr>
        <p:grpSpPr>
          <a:xfrm>
            <a:off x="2915816" y="4797152"/>
            <a:ext cx="3312368" cy="1440160"/>
            <a:chOff x="2915816" y="4293096"/>
            <a:chExt cx="3312368" cy="1440160"/>
          </a:xfrm>
        </p:grpSpPr>
        <p:sp>
          <p:nvSpPr>
            <p:cNvPr id="6" name="Diamond 5"/>
            <p:cNvSpPr/>
            <p:nvPr/>
          </p:nvSpPr>
          <p:spPr>
            <a:xfrm>
              <a:off x="4139952" y="5013176"/>
              <a:ext cx="864096" cy="720080"/>
            </a:xfrm>
            <a:prstGeom prst="diamond">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p:cNvCxnSpPr>
              <a:stCxn id="6" idx="3"/>
            </p:cNvCxnSpPr>
            <p:nvPr/>
          </p:nvCxnSpPr>
          <p:spPr>
            <a:xfrm>
              <a:off x="5004048" y="5373216"/>
              <a:ext cx="122413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stCxn id="6" idx="1"/>
            </p:cNvCxnSpPr>
            <p:nvPr/>
          </p:nvCxnSpPr>
          <p:spPr>
            <a:xfrm flipH="1">
              <a:off x="2915816" y="5373216"/>
              <a:ext cx="122413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915816" y="4725144"/>
              <a:ext cx="1368152" cy="461665"/>
            </a:xfrm>
            <a:prstGeom prst="rect">
              <a:avLst/>
            </a:prstGeom>
            <a:noFill/>
          </p:spPr>
          <p:txBody>
            <a:bodyPr wrap="square" rtlCol="0">
              <a:spAutoFit/>
            </a:bodyPr>
            <a:lstStyle/>
            <a:p>
              <a:r>
                <a:rPr lang="en-GB" sz="1200" dirty="0"/>
                <a:t>Decision Criteria 1</a:t>
              </a:r>
            </a:p>
            <a:p>
              <a:r>
                <a:rPr lang="en-GB" sz="1200" dirty="0"/>
                <a:t>[Guard Condition] </a:t>
              </a:r>
            </a:p>
          </p:txBody>
        </p:sp>
        <p:cxnSp>
          <p:nvCxnSpPr>
            <p:cNvPr id="17" name="Straight Arrow Connector 16"/>
            <p:cNvCxnSpPr>
              <a:endCxn id="6" idx="0"/>
            </p:cNvCxnSpPr>
            <p:nvPr/>
          </p:nvCxnSpPr>
          <p:spPr>
            <a:xfrm>
              <a:off x="4572000" y="4293096"/>
              <a:ext cx="0" cy="720080"/>
            </a:xfrm>
            <a:prstGeom prst="straightConnector1">
              <a:avLst/>
            </a:prstGeom>
            <a:ln>
              <a:solidFill>
                <a:schemeClr val="accent5">
                  <a:lumMod val="75000"/>
                </a:schemeClr>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644008" y="4293096"/>
              <a:ext cx="864096" cy="276999"/>
            </a:xfrm>
            <a:prstGeom prst="rect">
              <a:avLst/>
            </a:prstGeom>
            <a:noFill/>
          </p:spPr>
          <p:txBody>
            <a:bodyPr wrap="square" rtlCol="0">
              <a:spAutoFit/>
            </a:bodyPr>
            <a:lstStyle/>
            <a:p>
              <a:r>
                <a:rPr lang="en-GB" sz="1200" dirty="0"/>
                <a:t>Main Flow</a:t>
              </a:r>
            </a:p>
          </p:txBody>
        </p:sp>
        <p:sp>
          <p:nvSpPr>
            <p:cNvPr id="16" name="TextBox 15"/>
            <p:cNvSpPr txBox="1"/>
            <p:nvPr/>
          </p:nvSpPr>
          <p:spPr>
            <a:xfrm>
              <a:off x="4860032" y="4725145"/>
              <a:ext cx="1368152" cy="461665"/>
            </a:xfrm>
            <a:prstGeom prst="rect">
              <a:avLst/>
            </a:prstGeom>
            <a:noFill/>
          </p:spPr>
          <p:txBody>
            <a:bodyPr wrap="square" rtlCol="0">
              <a:spAutoFit/>
            </a:bodyPr>
            <a:lstStyle/>
            <a:p>
              <a:r>
                <a:rPr lang="en-GB" sz="1200" dirty="0"/>
                <a:t>Decision Criteria 2</a:t>
              </a:r>
            </a:p>
            <a:p>
              <a:r>
                <a:rPr lang="en-GB" sz="1200" dirty="0"/>
                <a:t>[Guard Condition] </a:t>
              </a:r>
            </a:p>
          </p:txBody>
        </p:sp>
      </p:grpSp>
      <p:sp>
        <p:nvSpPr>
          <p:cNvPr id="7" name="Footer Placeholder 6"/>
          <p:cNvSpPr>
            <a:spLocks noGrp="1"/>
          </p:cNvSpPr>
          <p:nvPr>
            <p:ph type="ftr" sz="quarter" idx="11"/>
          </p:nvPr>
        </p:nvSpPr>
        <p:spPr/>
        <p:txBody>
          <a:bodyPr/>
          <a:lstStyle/>
          <a:p>
            <a:r>
              <a:rPr lang="en-US">
                <a:solidFill>
                  <a:srgbClr val="C6E7FC"/>
                </a:solidFill>
                <a:latin typeface="Calibri"/>
              </a:rPr>
              <a:t>Unified Modeling Language</a:t>
            </a:r>
          </a:p>
        </p:txBody>
      </p:sp>
      <p:sp>
        <p:nvSpPr>
          <p:cNvPr id="9" name="Slide Number Placeholder 8"/>
          <p:cNvSpPr>
            <a:spLocks noGrp="1"/>
          </p:cNvSpPr>
          <p:nvPr>
            <p:ph type="sldNum" sz="quarter" idx="12"/>
          </p:nvPr>
        </p:nvSpPr>
        <p:spPr/>
        <p:txBody>
          <a:bodyPr/>
          <a:lstStyle/>
          <a:p>
            <a:fld id="{4A822907-8A9D-4F6B-98F6-913902AD56B5}" type="slidenum">
              <a:rPr lang="en-US" smtClean="0">
                <a:latin typeface="Calibri"/>
              </a:rPr>
              <a:pPr/>
              <a:t>18</a:t>
            </a:fld>
            <a:endParaRPr lang="en-US">
              <a:latin typeface="Calibri"/>
            </a:endParaRPr>
          </a:p>
        </p:txBody>
      </p:sp>
    </p:spTree>
    <p:extLst>
      <p:ext uri="{BB962C8B-B14F-4D97-AF65-F5344CB8AC3E}">
        <p14:creationId xmlns:p14="http://schemas.microsoft.com/office/powerpoint/2010/main" val="1214054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 and Merge Nodes - 2</a:t>
            </a:r>
          </a:p>
        </p:txBody>
      </p:sp>
      <p:sp>
        <p:nvSpPr>
          <p:cNvPr id="3" name="Content Placeholder 2"/>
          <p:cNvSpPr>
            <a:spLocks noGrp="1"/>
          </p:cNvSpPr>
          <p:nvPr>
            <p:ph idx="1"/>
          </p:nvPr>
        </p:nvSpPr>
        <p:spPr/>
        <p:txBody>
          <a:bodyPr/>
          <a:lstStyle/>
          <a:p>
            <a:pPr algn="just"/>
            <a:r>
              <a:rPr lang="en-GB" sz="2000" dirty="0"/>
              <a:t>A merge node is used to bring back together different decision paths that were created using a decision node. </a:t>
            </a:r>
          </a:p>
          <a:p>
            <a:pPr lvl="1" algn="just"/>
            <a:r>
              <a:rPr lang="en-GB" sz="1800" i="1" dirty="0">
                <a:solidFill>
                  <a:schemeClr val="tx2">
                    <a:lumMod val="60000"/>
                    <a:lumOff val="40000"/>
                  </a:schemeClr>
                </a:solidFill>
              </a:rPr>
              <a:t>Merge nodes do not contain any decision criteria</a:t>
            </a:r>
            <a:r>
              <a:rPr lang="en-GB" sz="1800" i="1" dirty="0">
                <a:solidFill>
                  <a:srgbClr val="2D83F4"/>
                </a:solidFill>
              </a:rPr>
              <a:t>.</a:t>
            </a:r>
          </a:p>
          <a:p>
            <a:pPr algn="just"/>
            <a:endParaRPr lang="en-GB" sz="2000" i="1" dirty="0">
              <a:solidFill>
                <a:srgbClr val="2D83F4"/>
              </a:solidFill>
            </a:endParaRPr>
          </a:p>
          <a:p>
            <a:pPr algn="just"/>
            <a:r>
              <a:rPr lang="en-GB" sz="2000" i="1" dirty="0">
                <a:solidFill>
                  <a:schemeClr val="tx2">
                    <a:lumMod val="60000"/>
                    <a:lumOff val="40000"/>
                  </a:schemeClr>
                </a:solidFill>
              </a:rPr>
              <a:t>Merge nodes should only be used to bring together flows, which are alternatives, not parallel flows – parallel flows need to be brought together with a join component</a:t>
            </a:r>
            <a:r>
              <a:rPr lang="en-GB" sz="2000" i="1" dirty="0">
                <a:solidFill>
                  <a:srgbClr val="2D83F4"/>
                </a:solidFill>
              </a:rPr>
              <a:t>.</a:t>
            </a:r>
          </a:p>
          <a:p>
            <a:pPr algn="just"/>
            <a:endParaRPr lang="en-GB" sz="2000" i="1" dirty="0">
              <a:solidFill>
                <a:srgbClr val="2D83F4"/>
              </a:solidFill>
            </a:endParaRPr>
          </a:p>
          <a:p>
            <a:pPr marL="342900" lvl="1" algn="just">
              <a:buClr>
                <a:schemeClr val="accent1"/>
              </a:buClr>
            </a:pPr>
            <a:r>
              <a:rPr lang="en-GB" i="1" dirty="0">
                <a:solidFill>
                  <a:srgbClr val="2D83F4"/>
                </a:solidFill>
              </a:rPr>
              <a:t>A merge also appears as a diamond but it has multiple transitions leading into and only one leading out.</a:t>
            </a:r>
          </a:p>
        </p:txBody>
      </p:sp>
      <p:grpSp>
        <p:nvGrpSpPr>
          <p:cNvPr id="9" name="Group 8"/>
          <p:cNvGrpSpPr/>
          <p:nvPr/>
        </p:nvGrpSpPr>
        <p:grpSpPr>
          <a:xfrm>
            <a:off x="2915816" y="5157192"/>
            <a:ext cx="3240360" cy="1440160"/>
            <a:chOff x="2951820" y="4581128"/>
            <a:chExt cx="3240360" cy="1440160"/>
          </a:xfrm>
        </p:grpSpPr>
        <p:sp>
          <p:nvSpPr>
            <p:cNvPr id="6" name="Diamond 5"/>
            <p:cNvSpPr/>
            <p:nvPr/>
          </p:nvSpPr>
          <p:spPr>
            <a:xfrm>
              <a:off x="4175956" y="4581128"/>
              <a:ext cx="864096" cy="720080"/>
            </a:xfrm>
            <a:prstGeom prst="diamond">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Arrow Connector 6"/>
            <p:cNvCxnSpPr>
              <a:endCxn id="6" idx="1"/>
            </p:cNvCxnSpPr>
            <p:nvPr/>
          </p:nvCxnSpPr>
          <p:spPr>
            <a:xfrm>
              <a:off x="2951820" y="4941168"/>
              <a:ext cx="122413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endCxn id="6" idx="3"/>
            </p:cNvCxnSpPr>
            <p:nvPr/>
          </p:nvCxnSpPr>
          <p:spPr>
            <a:xfrm flipH="1">
              <a:off x="5040052" y="4941168"/>
              <a:ext cx="1152128"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6" idx="2"/>
            </p:cNvCxnSpPr>
            <p:nvPr/>
          </p:nvCxnSpPr>
          <p:spPr>
            <a:xfrm>
              <a:off x="4608004" y="5301208"/>
              <a:ext cx="0" cy="720080"/>
            </a:xfrm>
            <a:prstGeom prst="straightConnector1">
              <a:avLst/>
            </a:prstGeom>
            <a:ln>
              <a:solidFill>
                <a:srgbClr val="DC9F0C"/>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680012" y="5445224"/>
              <a:ext cx="864096" cy="276999"/>
            </a:xfrm>
            <a:prstGeom prst="rect">
              <a:avLst/>
            </a:prstGeom>
            <a:noFill/>
          </p:spPr>
          <p:txBody>
            <a:bodyPr wrap="square" rtlCol="0">
              <a:spAutoFit/>
            </a:bodyPr>
            <a:lstStyle/>
            <a:p>
              <a:r>
                <a:rPr lang="en-GB" sz="1200" dirty="0"/>
                <a:t>Main Flow</a:t>
              </a:r>
            </a:p>
          </p:txBody>
        </p:sp>
        <p:sp>
          <p:nvSpPr>
            <p:cNvPr id="13" name="TextBox 12"/>
            <p:cNvSpPr txBox="1"/>
            <p:nvPr/>
          </p:nvSpPr>
          <p:spPr>
            <a:xfrm>
              <a:off x="3419872" y="4941168"/>
              <a:ext cx="648072" cy="276999"/>
            </a:xfrm>
            <a:prstGeom prst="rect">
              <a:avLst/>
            </a:prstGeom>
            <a:noFill/>
          </p:spPr>
          <p:txBody>
            <a:bodyPr wrap="square" rtlCol="0">
              <a:spAutoFit/>
            </a:bodyPr>
            <a:lstStyle/>
            <a:p>
              <a:r>
                <a:rPr lang="en-GB" sz="1200" dirty="0"/>
                <a:t>Flow 1</a:t>
              </a:r>
            </a:p>
          </p:txBody>
        </p:sp>
        <p:sp>
          <p:nvSpPr>
            <p:cNvPr id="14" name="TextBox 13"/>
            <p:cNvSpPr txBox="1"/>
            <p:nvPr/>
          </p:nvSpPr>
          <p:spPr>
            <a:xfrm>
              <a:off x="5148064" y="4941168"/>
              <a:ext cx="648072" cy="276999"/>
            </a:xfrm>
            <a:prstGeom prst="rect">
              <a:avLst/>
            </a:prstGeom>
            <a:noFill/>
          </p:spPr>
          <p:txBody>
            <a:bodyPr wrap="square" rtlCol="0">
              <a:spAutoFit/>
            </a:bodyPr>
            <a:lstStyle/>
            <a:p>
              <a:r>
                <a:rPr lang="en-GB" sz="1200" dirty="0"/>
                <a:t>Flow 2</a:t>
              </a:r>
            </a:p>
          </p:txBody>
        </p:sp>
      </p:grpSp>
      <p:sp>
        <p:nvSpPr>
          <p:cNvPr id="10" name="Footer Placeholder 9"/>
          <p:cNvSpPr>
            <a:spLocks noGrp="1"/>
          </p:cNvSpPr>
          <p:nvPr>
            <p:ph type="ftr" sz="quarter" idx="11"/>
          </p:nvPr>
        </p:nvSpPr>
        <p:spPr/>
        <p:txBody>
          <a:bodyPr/>
          <a:lstStyle/>
          <a:p>
            <a:r>
              <a:rPr lang="en-US">
                <a:solidFill>
                  <a:srgbClr val="C6E7FC"/>
                </a:solidFill>
                <a:latin typeface="Calibri"/>
              </a:rPr>
              <a:t>Unified Modeling Language</a:t>
            </a:r>
          </a:p>
        </p:txBody>
      </p:sp>
      <p:sp>
        <p:nvSpPr>
          <p:cNvPr id="15" name="Slide Number Placeholder 14"/>
          <p:cNvSpPr>
            <a:spLocks noGrp="1"/>
          </p:cNvSpPr>
          <p:nvPr>
            <p:ph type="sldNum" sz="quarter" idx="12"/>
          </p:nvPr>
        </p:nvSpPr>
        <p:spPr/>
        <p:txBody>
          <a:bodyPr/>
          <a:lstStyle/>
          <a:p>
            <a:fld id="{4A822907-8A9D-4F6B-98F6-913902AD56B5}" type="slidenum">
              <a:rPr lang="en-US" smtClean="0">
                <a:latin typeface="Calibri"/>
              </a:rPr>
              <a:pPr/>
              <a:t>19</a:t>
            </a:fld>
            <a:endParaRPr lang="en-US">
              <a:latin typeface="Calibri"/>
            </a:endParaRPr>
          </a:p>
        </p:txBody>
      </p:sp>
    </p:spTree>
    <p:extLst>
      <p:ext uri="{BB962C8B-B14F-4D97-AF65-F5344CB8AC3E}">
        <p14:creationId xmlns:p14="http://schemas.microsoft.com/office/powerpoint/2010/main" val="603328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Fork and Join Nodes</a:t>
            </a:r>
          </a:p>
        </p:txBody>
      </p:sp>
      <p:sp>
        <p:nvSpPr>
          <p:cNvPr id="3" name="Content Placeholder 2"/>
          <p:cNvSpPr>
            <a:spLocks noGrp="1"/>
          </p:cNvSpPr>
          <p:nvPr>
            <p:ph idx="1"/>
          </p:nvPr>
        </p:nvSpPr>
        <p:spPr/>
        <p:txBody>
          <a:bodyPr>
            <a:normAutofit/>
          </a:bodyPr>
          <a:lstStyle/>
          <a:p>
            <a:pPr algn="just"/>
            <a:r>
              <a:rPr lang="en-GB" sz="2000" dirty="0"/>
              <a:t>Sometimes it makes sense to allow a number of actions to run in </a:t>
            </a:r>
            <a:r>
              <a:rPr lang="en-GB" sz="2000" i="1" dirty="0">
                <a:solidFill>
                  <a:srgbClr val="2D83F4"/>
                </a:solidFill>
              </a:rPr>
              <a:t>parallel</a:t>
            </a:r>
            <a:r>
              <a:rPr lang="en-GB" sz="2000" dirty="0"/>
              <a:t>. </a:t>
            </a:r>
          </a:p>
          <a:p>
            <a:pPr algn="just"/>
            <a:endParaRPr lang="en-GB" sz="2000" dirty="0"/>
          </a:p>
          <a:p>
            <a:pPr algn="just"/>
            <a:r>
              <a:rPr lang="en-GB" sz="2000" dirty="0"/>
              <a:t>An activity edge can be split into multiple paths and multiple paths combined into a single activity edge using a fork node and a join node.  </a:t>
            </a:r>
          </a:p>
          <a:p>
            <a:pPr algn="just"/>
            <a:endParaRPr lang="en-GB" sz="2000" dirty="0"/>
          </a:p>
          <a:p>
            <a:pPr algn="just"/>
            <a:r>
              <a:rPr lang="en-GB" sz="2000" dirty="0"/>
              <a:t>A fork node may have one entry activity edge and two or more exit activity edges.</a:t>
            </a:r>
          </a:p>
        </p:txBody>
      </p:sp>
      <p:grpSp>
        <p:nvGrpSpPr>
          <p:cNvPr id="31" name="Group 30"/>
          <p:cNvGrpSpPr/>
          <p:nvPr/>
        </p:nvGrpSpPr>
        <p:grpSpPr>
          <a:xfrm>
            <a:off x="1691680" y="4869160"/>
            <a:ext cx="5760640" cy="1008112"/>
            <a:chOff x="1979712" y="4941168"/>
            <a:chExt cx="5760640" cy="1008112"/>
          </a:xfrm>
        </p:grpSpPr>
        <p:cxnSp>
          <p:nvCxnSpPr>
            <p:cNvPr id="9" name="Straight Arrow Connector 8"/>
            <p:cNvCxnSpPr/>
            <p:nvPr/>
          </p:nvCxnSpPr>
          <p:spPr>
            <a:xfrm>
              <a:off x="4067944" y="5733256"/>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2555776" y="5445224"/>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995936" y="4941168"/>
              <a:ext cx="0" cy="1008112"/>
            </a:xfrm>
            <a:prstGeom prst="line">
              <a:avLst/>
            </a:prstGeom>
            <a:ln w="76200" cmpd="sng">
              <a:solidFill>
                <a:srgbClr val="DC9F0C"/>
              </a:solidFill>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4067944" y="5157192"/>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4067944" y="5445224"/>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Rounded Rectangular Callout 23"/>
            <p:cNvSpPr/>
            <p:nvPr/>
          </p:nvSpPr>
          <p:spPr>
            <a:xfrm>
              <a:off x="1979712" y="4941168"/>
              <a:ext cx="1080120" cy="245595"/>
            </a:xfrm>
            <a:prstGeom prst="wedgeRoundRectCallout">
              <a:avLst>
                <a:gd name="adj1" fmla="val 69689"/>
                <a:gd name="adj2" fmla="val 132759"/>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dirty="0">
                  <a:solidFill>
                    <a:schemeClr val="tx1"/>
                  </a:solidFill>
                </a:rPr>
                <a:t>Single Flow</a:t>
              </a:r>
            </a:p>
          </p:txBody>
        </p:sp>
        <p:sp>
          <p:nvSpPr>
            <p:cNvPr id="26" name="Right Brace 25"/>
            <p:cNvSpPr/>
            <p:nvPr/>
          </p:nvSpPr>
          <p:spPr>
            <a:xfrm>
              <a:off x="5580112" y="4941168"/>
              <a:ext cx="144016" cy="936104"/>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en-GB"/>
            </a:p>
          </p:txBody>
        </p:sp>
        <p:sp>
          <p:nvSpPr>
            <p:cNvPr id="27" name="Rounded Rectangle 26"/>
            <p:cNvSpPr/>
            <p:nvPr/>
          </p:nvSpPr>
          <p:spPr>
            <a:xfrm>
              <a:off x="5868144" y="5157192"/>
              <a:ext cx="1872208" cy="50405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dirty="0">
                  <a:solidFill>
                    <a:schemeClr val="tx1"/>
                  </a:solidFill>
                </a:rPr>
                <a:t>2 or More Simultaneous Flows</a:t>
              </a:r>
            </a:p>
          </p:txBody>
        </p:sp>
      </p:gr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20</a:t>
            </a:fld>
            <a:endParaRPr lang="en-US">
              <a:latin typeface="Calibri"/>
            </a:endParaRPr>
          </a:p>
        </p:txBody>
      </p:sp>
    </p:spTree>
    <p:extLst>
      <p:ext uri="{BB962C8B-B14F-4D97-AF65-F5344CB8AC3E}">
        <p14:creationId xmlns:p14="http://schemas.microsoft.com/office/powerpoint/2010/main" val="2912687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Fork and Join Nodes - 2</a:t>
            </a:r>
            <a:endParaRPr lang="en-US" dirty="0"/>
          </a:p>
        </p:txBody>
      </p:sp>
      <p:sp>
        <p:nvSpPr>
          <p:cNvPr id="3" name="Content Placeholder 2"/>
          <p:cNvSpPr>
            <a:spLocks noGrp="1"/>
          </p:cNvSpPr>
          <p:nvPr>
            <p:ph idx="1"/>
          </p:nvPr>
        </p:nvSpPr>
        <p:spPr/>
        <p:txBody>
          <a:bodyPr>
            <a:normAutofit/>
          </a:bodyPr>
          <a:lstStyle/>
          <a:p>
            <a:pPr algn="just"/>
            <a:r>
              <a:rPr lang="en-US" sz="2000" dirty="0"/>
              <a:t>Flow final nodes can be used with the fork nodes.</a:t>
            </a:r>
          </a:p>
          <a:p>
            <a:pPr lvl="1" algn="just"/>
            <a:r>
              <a:rPr lang="en-US" sz="1800" i="1" dirty="0">
                <a:solidFill>
                  <a:srgbClr val="2D83F4"/>
                </a:solidFill>
              </a:rPr>
              <a:t>When a flow reaches a flow final node it stops, but other flows may continue executing within the action.</a:t>
            </a:r>
          </a:p>
          <a:p>
            <a:pPr lvl="1" algn="just"/>
            <a:r>
              <a:rPr lang="en-GB" sz="1800" i="1" dirty="0">
                <a:solidFill>
                  <a:srgbClr val="2D83F4"/>
                </a:solidFill>
              </a:rPr>
              <a:t>There are no guard conditions in fork.</a:t>
            </a:r>
            <a:endParaRPr lang="en-GB" sz="1800" b="1" i="1" dirty="0">
              <a:solidFill>
                <a:srgbClr val="2D83F4"/>
              </a:solidFill>
            </a:endParaRPr>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21</a:t>
            </a:fld>
            <a:endParaRPr lang="en-US">
              <a:latin typeface="Calibri"/>
            </a:endParaRPr>
          </a:p>
        </p:txBody>
      </p:sp>
      <p:grpSp>
        <p:nvGrpSpPr>
          <p:cNvPr id="50" name="Group 49"/>
          <p:cNvGrpSpPr/>
          <p:nvPr/>
        </p:nvGrpSpPr>
        <p:grpSpPr>
          <a:xfrm>
            <a:off x="1043608" y="3429000"/>
            <a:ext cx="7056784" cy="1872208"/>
            <a:chOff x="755576" y="3429000"/>
            <a:chExt cx="7056784" cy="1872208"/>
          </a:xfrm>
        </p:grpSpPr>
        <p:cxnSp>
          <p:nvCxnSpPr>
            <p:cNvPr id="6" name="Straight Arrow Connector 5"/>
            <p:cNvCxnSpPr>
              <a:endCxn id="11" idx="1"/>
            </p:cNvCxnSpPr>
            <p:nvPr/>
          </p:nvCxnSpPr>
          <p:spPr>
            <a:xfrm>
              <a:off x="1331640" y="5085184"/>
              <a:ext cx="93610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1259632" y="3429000"/>
              <a:ext cx="0" cy="1872208"/>
            </a:xfrm>
            <a:prstGeom prst="line">
              <a:avLst/>
            </a:prstGeom>
            <a:ln w="76200" cmpd="sng">
              <a:solidFill>
                <a:srgbClr val="DC9F0C"/>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endCxn id="31" idx="1"/>
            </p:cNvCxnSpPr>
            <p:nvPr/>
          </p:nvCxnSpPr>
          <p:spPr>
            <a:xfrm>
              <a:off x="1331640" y="3645024"/>
              <a:ext cx="93610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endCxn id="17" idx="1"/>
            </p:cNvCxnSpPr>
            <p:nvPr/>
          </p:nvCxnSpPr>
          <p:spPr>
            <a:xfrm>
              <a:off x="1331640" y="4365104"/>
              <a:ext cx="93610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267744" y="4869160"/>
              <a:ext cx="1584176" cy="432048"/>
            </a:xfrm>
            <a:prstGeom prst="round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Setup User Account</a:t>
              </a:r>
            </a:p>
          </p:txBody>
        </p:sp>
        <p:sp>
          <p:nvSpPr>
            <p:cNvPr id="17" name="Rounded Rectangle 16"/>
            <p:cNvSpPr/>
            <p:nvPr/>
          </p:nvSpPr>
          <p:spPr>
            <a:xfrm>
              <a:off x="2267744" y="4149080"/>
              <a:ext cx="1584176" cy="432048"/>
            </a:xfrm>
            <a:prstGeom prst="round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Setup User Office Space</a:t>
              </a:r>
            </a:p>
          </p:txBody>
        </p:sp>
        <p:cxnSp>
          <p:nvCxnSpPr>
            <p:cNvPr id="20" name="Straight Arrow Connector 19"/>
            <p:cNvCxnSpPr>
              <a:stCxn id="17" idx="3"/>
              <a:endCxn id="25" idx="2"/>
            </p:cNvCxnSpPr>
            <p:nvPr/>
          </p:nvCxnSpPr>
          <p:spPr>
            <a:xfrm>
              <a:off x="3851920" y="4365104"/>
              <a:ext cx="100811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11" idx="3"/>
              <a:endCxn id="35" idx="2"/>
            </p:cNvCxnSpPr>
            <p:nvPr/>
          </p:nvCxnSpPr>
          <p:spPr>
            <a:xfrm>
              <a:off x="3851920" y="5085184"/>
              <a:ext cx="100811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860032" y="4221088"/>
              <a:ext cx="288032" cy="288032"/>
            </a:xfrm>
            <a:prstGeom prst="ellipse">
              <a:avLst/>
            </a:prstGeom>
            <a:no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Multiply 25"/>
            <p:cNvSpPr/>
            <p:nvPr/>
          </p:nvSpPr>
          <p:spPr>
            <a:xfrm>
              <a:off x="4860032" y="4221088"/>
              <a:ext cx="288032" cy="288032"/>
            </a:xfrm>
            <a:prstGeom prst="mathMultiply">
              <a:avLst/>
            </a:prstGeom>
            <a:solidFill>
              <a:srgbClr val="7C9C1E"/>
            </a:solid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ounded Rectangle 30"/>
            <p:cNvSpPr/>
            <p:nvPr/>
          </p:nvSpPr>
          <p:spPr>
            <a:xfrm>
              <a:off x="2267744" y="3429000"/>
              <a:ext cx="1584176" cy="432048"/>
            </a:xfrm>
            <a:prstGeom prst="round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Prepare Benefits Paperwork</a:t>
              </a:r>
            </a:p>
          </p:txBody>
        </p:sp>
        <p:sp>
          <p:nvSpPr>
            <p:cNvPr id="35" name="Oval 34"/>
            <p:cNvSpPr/>
            <p:nvPr/>
          </p:nvSpPr>
          <p:spPr>
            <a:xfrm>
              <a:off x="4860032" y="4941168"/>
              <a:ext cx="288032" cy="288032"/>
            </a:xfrm>
            <a:prstGeom prst="ellipse">
              <a:avLst/>
            </a:prstGeom>
            <a:no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6" name="Multiply 35"/>
            <p:cNvSpPr/>
            <p:nvPr/>
          </p:nvSpPr>
          <p:spPr>
            <a:xfrm>
              <a:off x="4860032" y="4941168"/>
              <a:ext cx="288032" cy="288032"/>
            </a:xfrm>
            <a:prstGeom prst="mathMultiply">
              <a:avLst/>
            </a:prstGeom>
            <a:solidFill>
              <a:srgbClr val="7C9C1E"/>
            </a:solidFill>
            <a:ln>
              <a:solidFill>
                <a:srgbClr val="7C9C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38" name="Straight Arrow Connector 37"/>
            <p:cNvCxnSpPr>
              <a:stCxn id="31" idx="3"/>
              <a:endCxn id="40" idx="1"/>
            </p:cNvCxnSpPr>
            <p:nvPr/>
          </p:nvCxnSpPr>
          <p:spPr>
            <a:xfrm>
              <a:off x="3851920" y="3645024"/>
              <a:ext cx="100811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860032" y="3429000"/>
              <a:ext cx="1944216" cy="432048"/>
            </a:xfrm>
            <a:prstGeom prst="round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Submit Employee Info to Insurance Company</a:t>
              </a:r>
            </a:p>
          </p:txBody>
        </p:sp>
        <p:cxnSp>
          <p:nvCxnSpPr>
            <p:cNvPr id="44" name="Straight Arrow Connector 43"/>
            <p:cNvCxnSpPr>
              <a:stCxn id="40" idx="3"/>
            </p:cNvCxnSpPr>
            <p:nvPr/>
          </p:nvCxnSpPr>
          <p:spPr>
            <a:xfrm>
              <a:off x="6804248" y="3645024"/>
              <a:ext cx="100811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755576" y="4365104"/>
              <a:ext cx="432048"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11213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Fork and Join Nodes - 3</a:t>
            </a:r>
          </a:p>
        </p:txBody>
      </p:sp>
      <p:sp>
        <p:nvSpPr>
          <p:cNvPr id="3" name="Content Placeholder 2"/>
          <p:cNvSpPr>
            <a:spLocks noGrp="1"/>
          </p:cNvSpPr>
          <p:nvPr>
            <p:ph idx="1"/>
          </p:nvPr>
        </p:nvSpPr>
        <p:spPr/>
        <p:txBody>
          <a:bodyPr>
            <a:normAutofit/>
          </a:bodyPr>
          <a:lstStyle/>
          <a:p>
            <a:pPr algn="just"/>
            <a:r>
              <a:rPr lang="en-GB" sz="2000" dirty="0"/>
              <a:t>A join node must have multiple entry activity edges and one exit activity edge. </a:t>
            </a:r>
          </a:p>
          <a:p>
            <a:pPr lvl="1" algn="just"/>
            <a:r>
              <a:rPr lang="en-GB" sz="1800" i="1" dirty="0">
                <a:solidFill>
                  <a:srgbClr val="2D83F4"/>
                </a:solidFill>
              </a:rPr>
              <a:t>It is permissible to merge a join and a fork together so that multiple parallel flows synchronize and then split into another set of parallel workflows</a:t>
            </a:r>
            <a:r>
              <a:rPr lang="en-GB" i="1" dirty="0">
                <a:solidFill>
                  <a:srgbClr val="2D83F4"/>
                </a:solidFill>
              </a:rPr>
              <a:t>.  </a:t>
            </a:r>
          </a:p>
          <a:p>
            <a:pPr algn="just"/>
            <a:endParaRPr lang="en-GB" sz="2000" dirty="0"/>
          </a:p>
          <a:p>
            <a:pPr algn="just"/>
            <a:r>
              <a:rPr lang="en-GB" sz="2000" dirty="0"/>
              <a:t>It is important when workflow is split into parallel flows that these flows are recombined on the same diagram. </a:t>
            </a:r>
          </a:p>
          <a:p>
            <a:pPr lvl="1" algn="just"/>
            <a:r>
              <a:rPr lang="en-GB" sz="1800" i="1" dirty="0">
                <a:solidFill>
                  <a:srgbClr val="2D83F4"/>
                </a:solidFill>
              </a:rPr>
              <a:t>Note that multiple exits and multiple entries to an action have implicit  fork and join semantics. </a:t>
            </a:r>
          </a:p>
        </p:txBody>
      </p:sp>
      <p:grpSp>
        <p:nvGrpSpPr>
          <p:cNvPr id="14" name="Group 13"/>
          <p:cNvGrpSpPr/>
          <p:nvPr/>
        </p:nvGrpSpPr>
        <p:grpSpPr>
          <a:xfrm>
            <a:off x="1907704" y="5085184"/>
            <a:ext cx="5688632" cy="1008112"/>
            <a:chOff x="323528" y="5301208"/>
            <a:chExt cx="5688632" cy="1008112"/>
          </a:xfrm>
        </p:grpSpPr>
        <p:cxnSp>
          <p:nvCxnSpPr>
            <p:cNvPr id="6" name="Straight Arrow Connector 5"/>
            <p:cNvCxnSpPr/>
            <p:nvPr/>
          </p:nvCxnSpPr>
          <p:spPr>
            <a:xfrm>
              <a:off x="2483768" y="6093296"/>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2483768" y="5805264"/>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3995936" y="5301208"/>
              <a:ext cx="0" cy="1008112"/>
            </a:xfrm>
            <a:prstGeom prst="line">
              <a:avLst/>
            </a:prstGeom>
            <a:ln w="76200" cmpd="sng">
              <a:solidFill>
                <a:srgbClr val="DC9F0C"/>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2483768" y="5517232"/>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4067944" y="5805264"/>
              <a:ext cx="14401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Rounded Rectangular Callout 10"/>
            <p:cNvSpPr/>
            <p:nvPr/>
          </p:nvSpPr>
          <p:spPr>
            <a:xfrm>
              <a:off x="4932040" y="5301208"/>
              <a:ext cx="1080120" cy="245595"/>
            </a:xfrm>
            <a:prstGeom prst="wedgeRoundRectCallout">
              <a:avLst>
                <a:gd name="adj1" fmla="val -72098"/>
                <a:gd name="adj2" fmla="val 132759"/>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dirty="0">
                  <a:solidFill>
                    <a:schemeClr val="tx1"/>
                  </a:solidFill>
                </a:rPr>
                <a:t>Single Flow</a:t>
              </a:r>
            </a:p>
          </p:txBody>
        </p:sp>
        <p:sp>
          <p:nvSpPr>
            <p:cNvPr id="12" name="Right Brace 11"/>
            <p:cNvSpPr/>
            <p:nvPr/>
          </p:nvSpPr>
          <p:spPr>
            <a:xfrm flipH="1" flipV="1">
              <a:off x="2267744" y="5301208"/>
              <a:ext cx="144016" cy="936104"/>
            </a:xfrm>
            <a:prstGeom prst="rightBrace">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en-GB"/>
            </a:p>
          </p:txBody>
        </p:sp>
        <p:sp>
          <p:nvSpPr>
            <p:cNvPr id="13" name="Rounded Rectangle 12"/>
            <p:cNvSpPr/>
            <p:nvPr/>
          </p:nvSpPr>
          <p:spPr>
            <a:xfrm>
              <a:off x="323528" y="5517232"/>
              <a:ext cx="1872208" cy="50405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dirty="0">
                  <a:solidFill>
                    <a:schemeClr val="tx1"/>
                  </a:solidFill>
                </a:rPr>
                <a:t>2 or More Simultaneous Flows</a:t>
              </a:r>
            </a:p>
          </p:txBody>
        </p:sp>
      </p:grpSp>
      <p:sp>
        <p:nvSpPr>
          <p:cNvPr id="15" name="Footer Placeholder 14"/>
          <p:cNvSpPr>
            <a:spLocks noGrp="1"/>
          </p:cNvSpPr>
          <p:nvPr>
            <p:ph type="ftr" sz="quarter" idx="11"/>
          </p:nvPr>
        </p:nvSpPr>
        <p:spPr/>
        <p:txBody>
          <a:bodyPr/>
          <a:lstStyle/>
          <a:p>
            <a:r>
              <a:rPr lang="en-US">
                <a:solidFill>
                  <a:srgbClr val="C6E7FC"/>
                </a:solidFill>
                <a:latin typeface="Calibri"/>
              </a:rPr>
              <a:t>Unified Modeling Language</a:t>
            </a:r>
          </a:p>
        </p:txBody>
      </p:sp>
      <p:sp>
        <p:nvSpPr>
          <p:cNvPr id="16" name="Slide Number Placeholder 15"/>
          <p:cNvSpPr>
            <a:spLocks noGrp="1"/>
          </p:cNvSpPr>
          <p:nvPr>
            <p:ph type="sldNum" sz="quarter" idx="12"/>
          </p:nvPr>
        </p:nvSpPr>
        <p:spPr/>
        <p:txBody>
          <a:bodyPr/>
          <a:lstStyle/>
          <a:p>
            <a:fld id="{4A822907-8A9D-4F6B-98F6-913902AD56B5}" type="slidenum">
              <a:rPr lang="en-US" smtClean="0">
                <a:latin typeface="Calibri"/>
              </a:rPr>
              <a:pPr/>
              <a:t>22</a:t>
            </a:fld>
            <a:endParaRPr lang="en-US">
              <a:latin typeface="Calibri"/>
            </a:endParaRPr>
          </a:p>
        </p:txBody>
      </p:sp>
    </p:spTree>
    <p:extLst>
      <p:ext uri="{BB962C8B-B14F-4D97-AF65-F5344CB8AC3E}">
        <p14:creationId xmlns:p14="http://schemas.microsoft.com/office/powerpoint/2010/main" val="3846518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Other Activities</a:t>
            </a:r>
          </a:p>
        </p:txBody>
      </p:sp>
      <p:sp>
        <p:nvSpPr>
          <p:cNvPr id="3" name="Content Placeholder 2"/>
          <p:cNvSpPr>
            <a:spLocks noGrp="1"/>
          </p:cNvSpPr>
          <p:nvPr>
            <p:ph idx="1"/>
          </p:nvPr>
        </p:nvSpPr>
        <p:spPr/>
        <p:txBody>
          <a:bodyPr>
            <a:normAutofit/>
          </a:bodyPr>
          <a:lstStyle/>
          <a:p>
            <a:pPr algn="just"/>
            <a:r>
              <a:rPr lang="en-GB" sz="2000" dirty="0"/>
              <a:t>As detail is added to your activity diagram, the diagram may become too big, or the same sequence of actions may occur more than once. </a:t>
            </a:r>
          </a:p>
          <a:p>
            <a:pPr algn="just"/>
            <a:endParaRPr lang="en-GB" sz="2000" dirty="0"/>
          </a:p>
          <a:p>
            <a:pPr algn="just"/>
            <a:r>
              <a:rPr lang="en-GB" sz="2000" dirty="0"/>
              <a:t>When this happens, you can </a:t>
            </a:r>
            <a:r>
              <a:rPr lang="en-GB" sz="2000" i="1" dirty="0">
                <a:solidFill>
                  <a:srgbClr val="2D83F4"/>
                </a:solidFill>
              </a:rPr>
              <a:t>improve readability by providing details of an action in a separate diagram</a:t>
            </a:r>
            <a:r>
              <a:rPr lang="en-GB" sz="2000" dirty="0"/>
              <a:t>, allowing the higher level diagram to remain less cluttered.  </a:t>
            </a:r>
          </a:p>
          <a:p>
            <a:pPr algn="just"/>
            <a:endParaRPr lang="en-GB" sz="2000" dirty="0"/>
          </a:p>
          <a:p>
            <a:pPr algn="just"/>
            <a:r>
              <a:rPr lang="en-GB" sz="2000" i="1" dirty="0">
                <a:solidFill>
                  <a:srgbClr val="2D83F4"/>
                </a:solidFill>
              </a:rPr>
              <a:t>Pitch fork </a:t>
            </a:r>
            <a:r>
              <a:rPr lang="en-GB" sz="2000" dirty="0"/>
              <a:t>action now has an upside-down pitchfork symbol indicating that it is a call activity node. </a:t>
            </a:r>
          </a:p>
          <a:p>
            <a:pPr lvl="1" algn="just"/>
            <a:r>
              <a:rPr lang="en-GB" i="1" dirty="0">
                <a:solidFill>
                  <a:srgbClr val="2D83F4"/>
                </a:solidFill>
              </a:rPr>
              <a:t>A call activity node calls the activity corresponding to its node name. </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23</a:t>
            </a:fld>
            <a:endParaRPr lang="en-US">
              <a:latin typeface="Calibri"/>
            </a:endParaRPr>
          </a:p>
        </p:txBody>
      </p:sp>
    </p:spTree>
    <p:extLst>
      <p:ext uri="{BB962C8B-B14F-4D97-AF65-F5344CB8AC3E}">
        <p14:creationId xmlns:p14="http://schemas.microsoft.com/office/powerpoint/2010/main" val="391425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Calling Other Activities - 2</a:t>
            </a:r>
          </a:p>
        </p:txBody>
      </p:sp>
      <p:pic>
        <p:nvPicPr>
          <p:cNvPr id="7" name="Picture 2" descr="http://flylib.com/books/2/926/1/html/2/images/learnuml2_0313.jp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39552" y="2204865"/>
            <a:ext cx="7560840" cy="1759615"/>
          </a:xfrm>
          <a:prstGeom prst="rect">
            <a:avLst/>
          </a:prstGeom>
          <a:noFill/>
          <a:ln>
            <a:solidFill>
              <a:schemeClr val="tx1"/>
            </a:solidFill>
          </a:ln>
          <a:extLst>
            <a:ext uri="{909E8E84-426E-40dd-AFC4-6F175D3DCCD1}">
              <a14:hiddenFill xmlns="" xmlns:a14="http://schemas.microsoft.com/office/drawing/2010/main">
                <a:solidFill>
                  <a:srgbClr val="FFFFFF"/>
                </a:solidFill>
              </a14:hiddenFill>
            </a:ext>
          </a:extLst>
        </p:spPr>
      </p:pic>
      <p:pic>
        <p:nvPicPr>
          <p:cNvPr id="8" name="Picture 4" descr="http://flylib.com/books/2/926/1/html/2/images/learnuml2_031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63689" y="4659796"/>
            <a:ext cx="4283571" cy="1145469"/>
          </a:xfrm>
          <a:prstGeom prst="rect">
            <a:avLst/>
          </a:prstGeom>
          <a:noFill/>
          <a:extLst>
            <a:ext uri="{909E8E84-426E-40dd-AFC4-6F175D3DCCD1}">
              <a14:hiddenFill xmlns="" xmlns:a14="http://schemas.microsoft.com/office/drawing/2010/main">
                <a:solidFill>
                  <a:srgbClr val="FFFFFF"/>
                </a:solidFill>
              </a14:hiddenFill>
            </a:ext>
          </a:extLst>
        </p:spPr>
      </p:pic>
      <p:sp>
        <p:nvSpPr>
          <p:cNvPr id="9" name="Down Arrow 8"/>
          <p:cNvSpPr/>
          <p:nvPr/>
        </p:nvSpPr>
        <p:spPr>
          <a:xfrm>
            <a:off x="1979712" y="4108496"/>
            <a:ext cx="360040" cy="472633"/>
          </a:xfrm>
          <a:prstGeom prst="downArrow">
            <a:avLst/>
          </a:prstGeom>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Footer Placeholder 1"/>
          <p:cNvSpPr>
            <a:spLocks noGrp="1"/>
          </p:cNvSpPr>
          <p:nvPr>
            <p:ph type="ftr" sz="quarter" idx="11"/>
          </p:nvPr>
        </p:nvSpPr>
        <p:spPr/>
        <p:txBody>
          <a:bodyPr/>
          <a:lstStyle/>
          <a:p>
            <a:r>
              <a:rPr lang="en-US">
                <a:solidFill>
                  <a:srgbClr val="C6E7FC"/>
                </a:solidFill>
                <a:latin typeface="Calibri"/>
              </a:rPr>
              <a:t>Unified Modeling Language</a:t>
            </a:r>
          </a:p>
        </p:txBody>
      </p:sp>
      <p:sp>
        <p:nvSpPr>
          <p:cNvPr id="3" name="Slide Number Placeholder 2"/>
          <p:cNvSpPr>
            <a:spLocks noGrp="1"/>
          </p:cNvSpPr>
          <p:nvPr>
            <p:ph type="sldNum" sz="quarter" idx="12"/>
          </p:nvPr>
        </p:nvSpPr>
        <p:spPr/>
        <p:txBody>
          <a:bodyPr/>
          <a:lstStyle/>
          <a:p>
            <a:fld id="{4A822907-8A9D-4F6B-98F6-913902AD56B5}" type="slidenum">
              <a:rPr lang="en-US" smtClean="0">
                <a:latin typeface="Calibri"/>
              </a:rPr>
              <a:pPr/>
              <a:t>24</a:t>
            </a:fld>
            <a:endParaRPr lang="en-US">
              <a:latin typeface="Calibri"/>
            </a:endParaRPr>
          </a:p>
        </p:txBody>
      </p:sp>
      <p:sp>
        <p:nvSpPr>
          <p:cNvPr id="5" name="Rounded Rectangular Callout 4"/>
          <p:cNvSpPr/>
          <p:nvPr/>
        </p:nvSpPr>
        <p:spPr>
          <a:xfrm>
            <a:off x="539552" y="4406384"/>
            <a:ext cx="1080120" cy="534784"/>
          </a:xfrm>
          <a:prstGeom prst="wedgeRoundRectCallout">
            <a:avLst>
              <a:gd name="adj1" fmla="val 65107"/>
              <a:gd name="adj2" fmla="val -188126"/>
              <a:gd name="adj3" fmla="val 16667"/>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Pitchfork Symbol</a:t>
            </a:r>
          </a:p>
        </p:txBody>
      </p:sp>
    </p:spTree>
    <p:extLst>
      <p:ext uri="{BB962C8B-B14F-4D97-AF65-F5344CB8AC3E}">
        <p14:creationId xmlns:p14="http://schemas.microsoft.com/office/powerpoint/2010/main" val="713988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800" dirty="0">
                <a:solidFill>
                  <a:srgbClr val="073E87"/>
                </a:solidFill>
              </a:rPr>
              <a:t>Explanation of the Previous Diagram</a:t>
            </a:r>
          </a:p>
        </p:txBody>
      </p:sp>
      <p:sp>
        <p:nvSpPr>
          <p:cNvPr id="5" name="Content Placeholder 4"/>
          <p:cNvSpPr>
            <a:spLocks noGrp="1"/>
          </p:cNvSpPr>
          <p:nvPr>
            <p:ph idx="1"/>
          </p:nvPr>
        </p:nvSpPr>
        <p:spPr/>
        <p:txBody>
          <a:bodyPr>
            <a:normAutofit/>
          </a:bodyPr>
          <a:lstStyle/>
          <a:p>
            <a:pPr algn="just"/>
            <a:r>
              <a:rPr lang="en-US" sz="1800" dirty="0"/>
              <a:t>The </a:t>
            </a:r>
            <a:r>
              <a:rPr lang="tr-TR" sz="1800" dirty="0"/>
              <a:t>“</a:t>
            </a:r>
            <a:r>
              <a:rPr lang="en-US" sz="1800" dirty="0"/>
              <a:t>Prepare Motherboard</a:t>
            </a:r>
            <a:r>
              <a:rPr lang="tr-TR" sz="1800" dirty="0"/>
              <a:t>”</a:t>
            </a:r>
            <a:r>
              <a:rPr lang="en-US" sz="1800" dirty="0"/>
              <a:t> node in invokes the </a:t>
            </a:r>
            <a:r>
              <a:rPr lang="tr-TR" sz="1800" dirty="0"/>
              <a:t>“</a:t>
            </a:r>
            <a:r>
              <a:rPr lang="en-US" sz="1800" dirty="0"/>
              <a:t>Prepare Motherboard</a:t>
            </a:r>
            <a:r>
              <a:rPr lang="tr-TR" sz="1800" dirty="0"/>
              <a:t>”</a:t>
            </a:r>
            <a:r>
              <a:rPr lang="en-US" sz="1800" dirty="0"/>
              <a:t> activity. </a:t>
            </a:r>
            <a:endParaRPr lang="tr-TR" sz="1800" dirty="0"/>
          </a:p>
          <a:p>
            <a:pPr lvl="1" algn="just"/>
            <a:r>
              <a:rPr lang="en-US" sz="1800" i="1" dirty="0">
                <a:solidFill>
                  <a:srgbClr val="2D83F4"/>
                </a:solidFill>
              </a:rPr>
              <a:t>You associate a call activity node with the activity it invokes by giving them the same name.</a:t>
            </a:r>
            <a:endParaRPr lang="tr-TR" sz="1800" i="1" dirty="0">
              <a:solidFill>
                <a:srgbClr val="2D83F4"/>
              </a:solidFill>
            </a:endParaRPr>
          </a:p>
          <a:p>
            <a:pPr algn="just"/>
            <a:endParaRPr lang="tr-TR" sz="1800" dirty="0"/>
          </a:p>
          <a:p>
            <a:pPr algn="just"/>
            <a:r>
              <a:rPr lang="en-US" sz="1800" dirty="0"/>
              <a:t>Call activities essentially break an action down into more details without having to show everything in one diagram. </a:t>
            </a:r>
          </a:p>
          <a:p>
            <a:pPr algn="just"/>
            <a:endParaRPr lang="en-US" sz="1800" dirty="0"/>
          </a:p>
          <a:p>
            <a:pPr algn="just"/>
            <a:r>
              <a:rPr lang="en-US" sz="1800" dirty="0"/>
              <a:t>The </a:t>
            </a:r>
            <a:r>
              <a:rPr lang="tr-TR" sz="1800" dirty="0"/>
              <a:t>“</a:t>
            </a:r>
            <a:r>
              <a:rPr lang="en-US" sz="1800" dirty="0"/>
              <a:t>Prepare Motherboard</a:t>
            </a:r>
            <a:r>
              <a:rPr lang="tr-TR" sz="1800" dirty="0"/>
              <a:t>”</a:t>
            </a:r>
            <a:r>
              <a:rPr lang="en-US" sz="1800" dirty="0"/>
              <a:t> activity diagram has its own initial and activity final nodes. </a:t>
            </a:r>
            <a:endParaRPr lang="tr-TR" sz="1800" dirty="0"/>
          </a:p>
          <a:p>
            <a:pPr lvl="1" algn="just"/>
            <a:r>
              <a:rPr lang="en-US" sz="1800" i="1" dirty="0">
                <a:solidFill>
                  <a:srgbClr val="2D83F4"/>
                </a:solidFill>
              </a:rPr>
              <a:t>The activity final node marks the end of </a:t>
            </a:r>
            <a:r>
              <a:rPr lang="tr-TR" sz="1800" i="1" dirty="0">
                <a:solidFill>
                  <a:srgbClr val="2D83F4"/>
                </a:solidFill>
              </a:rPr>
              <a:t>“</a:t>
            </a:r>
            <a:r>
              <a:rPr lang="en-US" sz="1800" i="1" dirty="0">
                <a:solidFill>
                  <a:srgbClr val="2D83F4"/>
                </a:solidFill>
              </a:rPr>
              <a:t>Prepare Motherboard</a:t>
            </a:r>
            <a:r>
              <a:rPr lang="tr-TR" sz="1800" i="1" dirty="0">
                <a:solidFill>
                  <a:srgbClr val="2D83F4"/>
                </a:solidFill>
              </a:rPr>
              <a:t>”</a:t>
            </a:r>
            <a:r>
              <a:rPr lang="en-US" sz="1800" i="1" dirty="0">
                <a:solidFill>
                  <a:srgbClr val="2D83F4"/>
                </a:solidFill>
              </a:rPr>
              <a:t>, but it doesn't mean the calling activity is complete. </a:t>
            </a:r>
            <a:endParaRPr lang="tr-TR" sz="1800" i="1" dirty="0">
              <a:solidFill>
                <a:srgbClr val="2D83F4"/>
              </a:solidFill>
            </a:endParaRPr>
          </a:p>
          <a:p>
            <a:pPr algn="just"/>
            <a:endParaRPr lang="tr-TR" sz="1800" dirty="0"/>
          </a:p>
          <a:p>
            <a:pPr algn="just"/>
            <a:r>
              <a:rPr lang="en-US" sz="1800" dirty="0"/>
              <a:t>When </a:t>
            </a:r>
            <a:r>
              <a:rPr lang="tr-TR" sz="1800" dirty="0"/>
              <a:t>“</a:t>
            </a:r>
            <a:r>
              <a:rPr lang="en-US" sz="1800" dirty="0"/>
              <a:t>Prepare Motherboard</a:t>
            </a:r>
            <a:r>
              <a:rPr lang="tr-TR" sz="1800" dirty="0"/>
              <a:t>”</a:t>
            </a:r>
            <a:r>
              <a:rPr lang="en-US" sz="1800" dirty="0"/>
              <a:t> terminates, control is returned to the calling activity, which proceeds as normal.</a:t>
            </a:r>
            <a:endParaRPr lang="tr-TR" sz="1800" dirty="0"/>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25</a:t>
            </a:fld>
            <a:endParaRPr lang="en-US">
              <a:latin typeface="Calibri"/>
            </a:endParaRPr>
          </a:p>
        </p:txBody>
      </p:sp>
    </p:spTree>
    <p:extLst>
      <p:ext uri="{BB962C8B-B14F-4D97-AF65-F5344CB8AC3E}">
        <p14:creationId xmlns:p14="http://schemas.microsoft.com/office/powerpoint/2010/main" val="1139340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Swim Lanes (Activity Partition)</a:t>
            </a:r>
          </a:p>
        </p:txBody>
      </p:sp>
      <p:sp>
        <p:nvSpPr>
          <p:cNvPr id="3" name="Content Placeholder 2"/>
          <p:cNvSpPr>
            <a:spLocks noGrp="1"/>
          </p:cNvSpPr>
          <p:nvPr>
            <p:ph idx="1"/>
          </p:nvPr>
        </p:nvSpPr>
        <p:spPr/>
        <p:txBody>
          <a:bodyPr>
            <a:normAutofit/>
          </a:bodyPr>
          <a:lstStyle/>
          <a:p>
            <a:pPr algn="just"/>
            <a:r>
              <a:rPr lang="en-US" sz="2000" dirty="0"/>
              <a:t>A swim lane, </a:t>
            </a:r>
            <a:r>
              <a:rPr lang="en-US" sz="2000" i="1" dirty="0">
                <a:solidFill>
                  <a:srgbClr val="2D83F4"/>
                </a:solidFill>
              </a:rPr>
              <a:t>or an activity partition</a:t>
            </a:r>
            <a:r>
              <a:rPr lang="en-US" sz="2000" dirty="0"/>
              <a:t>, is a kind of activity group for identifying actions that have some characteristic in common. </a:t>
            </a:r>
          </a:p>
          <a:p>
            <a:pPr marL="114300" indent="0" algn="just">
              <a:buNone/>
            </a:pPr>
            <a:endParaRPr lang="en-US" sz="2000" dirty="0"/>
          </a:p>
          <a:p>
            <a:pPr algn="just"/>
            <a:r>
              <a:rPr lang="en-US" sz="2000" dirty="0"/>
              <a:t>A swim lane is </a:t>
            </a:r>
            <a:r>
              <a:rPr lang="en-US" sz="2000" i="1" dirty="0">
                <a:solidFill>
                  <a:srgbClr val="2D83F4"/>
                </a:solidFill>
              </a:rPr>
              <a:t>labeled at the top with the name</a:t>
            </a:r>
            <a:r>
              <a:rPr lang="en-US" sz="2000" dirty="0"/>
              <a:t> of the individual or object responsible. </a:t>
            </a:r>
          </a:p>
          <a:p>
            <a:pPr marL="114300" indent="0" algn="just">
              <a:buNone/>
            </a:pPr>
            <a:endParaRPr lang="en-US" sz="2000" dirty="0">
              <a:solidFill>
                <a:schemeClr val="tx2">
                  <a:lumMod val="60000"/>
                  <a:lumOff val="40000"/>
                </a:schemeClr>
              </a:solidFill>
            </a:endParaRPr>
          </a:p>
          <a:p>
            <a:pPr algn="just"/>
            <a:r>
              <a:rPr lang="en-US" sz="2000" dirty="0"/>
              <a:t>Each lane is separated from the others by </a:t>
            </a:r>
            <a:r>
              <a:rPr lang="en-US" sz="2000" i="1" dirty="0">
                <a:solidFill>
                  <a:schemeClr val="tx2">
                    <a:lumMod val="60000"/>
                    <a:lumOff val="40000"/>
                  </a:schemeClr>
                </a:solidFill>
              </a:rPr>
              <a:t>solid vertical </a:t>
            </a:r>
            <a:r>
              <a:rPr lang="en-US" sz="2000" dirty="0">
                <a:solidFill>
                  <a:srgbClr val="000000"/>
                </a:solidFill>
              </a:rPr>
              <a:t>and </a:t>
            </a:r>
            <a:r>
              <a:rPr lang="en-US" sz="2000" i="1" dirty="0">
                <a:solidFill>
                  <a:schemeClr val="tx2">
                    <a:lumMod val="60000"/>
                    <a:lumOff val="40000"/>
                  </a:schemeClr>
                </a:solidFill>
              </a:rPr>
              <a:t>horizontal lines</a:t>
            </a:r>
            <a:r>
              <a:rPr lang="en-US" sz="2000" dirty="0">
                <a:solidFill>
                  <a:srgbClr val="000000"/>
                </a:solidFill>
              </a:rPr>
              <a:t>.</a:t>
            </a:r>
            <a:endParaRPr lang="en-US" sz="2000" dirty="0">
              <a:solidFill>
                <a:schemeClr val="tx2">
                  <a:lumMod val="60000"/>
                  <a:lumOff val="40000"/>
                </a:schemeClr>
              </a:solidFill>
            </a:endParaRPr>
          </a:p>
          <a:p>
            <a:pPr lvl="1" algn="just"/>
            <a:r>
              <a:rPr lang="en-US" sz="1800" i="1" dirty="0">
                <a:solidFill>
                  <a:schemeClr val="tx2">
                    <a:lumMod val="60000"/>
                    <a:lumOff val="40000"/>
                  </a:schemeClr>
                </a:solidFill>
              </a:rPr>
              <a:t>Therefore, swim lanes can either be horizontal or vertical.</a:t>
            </a:r>
          </a:p>
        </p:txBody>
      </p:sp>
      <p:sp>
        <p:nvSpPr>
          <p:cNvPr id="6" name="Footer Placeholder 5"/>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26</a:t>
            </a:fld>
            <a:endParaRPr lang="en-US">
              <a:latin typeface="Calibri"/>
            </a:endParaRPr>
          </a:p>
        </p:txBody>
      </p:sp>
    </p:spTree>
    <p:extLst>
      <p:ext uri="{BB962C8B-B14F-4D97-AF65-F5344CB8AC3E}">
        <p14:creationId xmlns:p14="http://schemas.microsoft.com/office/powerpoint/2010/main" val="48679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Swim Lanes (Activity Partition) - 2</a:t>
            </a:r>
            <a:endParaRPr lang="en-US" sz="4000" dirty="0"/>
          </a:p>
        </p:txBody>
      </p:sp>
      <p:sp>
        <p:nvSpPr>
          <p:cNvPr id="3" name="Content Placeholder 2"/>
          <p:cNvSpPr>
            <a:spLocks noGrp="1"/>
          </p:cNvSpPr>
          <p:nvPr>
            <p:ph idx="1"/>
          </p:nvPr>
        </p:nvSpPr>
        <p:spPr/>
        <p:txBody>
          <a:bodyPr>
            <a:normAutofit/>
          </a:bodyPr>
          <a:lstStyle/>
          <a:p>
            <a:pPr algn="just"/>
            <a:r>
              <a:rPr lang="en-US" sz="2000" dirty="0"/>
              <a:t>Every activity belongs to exactly one swim lane but </a:t>
            </a:r>
            <a:r>
              <a:rPr lang="en-US" sz="2000" i="1" dirty="0">
                <a:solidFill>
                  <a:schemeClr val="tx2">
                    <a:lumMod val="60000"/>
                    <a:lumOff val="40000"/>
                  </a:schemeClr>
                </a:solidFill>
              </a:rPr>
              <a:t>edges can cross partitions freely</a:t>
            </a:r>
            <a:r>
              <a:rPr lang="en-US" sz="2000" dirty="0"/>
              <a:t>.</a:t>
            </a:r>
          </a:p>
          <a:p>
            <a:pPr marL="114300" indent="0" algn="just">
              <a:buNone/>
            </a:pPr>
            <a:endParaRPr lang="en-US" sz="2000" dirty="0"/>
          </a:p>
          <a:p>
            <a:pPr algn="just"/>
            <a:r>
              <a:rPr lang="en-US" sz="2000" dirty="0"/>
              <a:t>Partitions are useful because they arrange the actions of an activity into areas corresponding to different objects or business roles that perform the actions, but they might also elongate the diagram. </a:t>
            </a:r>
          </a:p>
          <a:p>
            <a:pPr marL="114300" indent="0" algn="just">
              <a:buNone/>
            </a:pPr>
            <a:endParaRPr lang="en-US" sz="2000" i="1" dirty="0">
              <a:solidFill>
                <a:schemeClr val="tx2">
                  <a:lumMod val="60000"/>
                  <a:lumOff val="40000"/>
                </a:schemeClr>
              </a:solidFill>
            </a:endParaRPr>
          </a:p>
          <a:p>
            <a:pPr algn="just"/>
            <a:r>
              <a:rPr lang="en-US" sz="2000" i="1" dirty="0">
                <a:solidFill>
                  <a:schemeClr val="tx2">
                    <a:lumMod val="60000"/>
                    <a:lumOff val="40000"/>
                  </a:schemeClr>
                </a:solidFill>
              </a:rPr>
              <a:t>If you are using swim lanes you don’t need to draw the “activity component” to define the system boundary</a:t>
            </a:r>
            <a:r>
              <a:rPr lang="en-US" sz="2000" dirty="0">
                <a:solidFill>
                  <a:schemeClr val="tx2">
                    <a:lumMod val="60000"/>
                    <a:lumOff val="40000"/>
                  </a:schemeClr>
                </a:solidFill>
              </a:rPr>
              <a:t>.</a:t>
            </a:r>
            <a:endParaRPr lang="en-GB" sz="2000" dirty="0"/>
          </a:p>
        </p:txBody>
      </p:sp>
      <p:sp>
        <p:nvSpPr>
          <p:cNvPr id="4" name="Footer Placeholder 3"/>
          <p:cNvSpPr>
            <a:spLocks noGrp="1"/>
          </p:cNvSpPr>
          <p:nvPr>
            <p:ph type="ftr" sz="quarter" idx="11"/>
          </p:nvPr>
        </p:nvSpPr>
        <p:spPr/>
        <p:txBody>
          <a:bodyPr/>
          <a:lstStyle/>
          <a:p>
            <a:r>
              <a:rPr lang="en-US">
                <a:solidFill>
                  <a:srgbClr val="C6E7FC"/>
                </a:solidFill>
                <a:latin typeface="Calibri"/>
              </a:rPr>
              <a:t>Unified Modeling Language</a:t>
            </a:r>
          </a:p>
        </p:txBody>
      </p:sp>
      <p:sp>
        <p:nvSpPr>
          <p:cNvPr id="5" name="Slide Number Placeholder 4"/>
          <p:cNvSpPr>
            <a:spLocks noGrp="1"/>
          </p:cNvSpPr>
          <p:nvPr>
            <p:ph type="sldNum" sz="quarter" idx="12"/>
          </p:nvPr>
        </p:nvSpPr>
        <p:spPr/>
        <p:txBody>
          <a:bodyPr/>
          <a:lstStyle/>
          <a:p>
            <a:fld id="{4A822907-8A9D-4F6B-98F6-913902AD56B5}" type="slidenum">
              <a:rPr lang="en-US" smtClean="0">
                <a:latin typeface="Calibri"/>
              </a:rPr>
              <a:pPr/>
              <a:t>27</a:t>
            </a:fld>
            <a:endParaRPr lang="en-US">
              <a:latin typeface="Calibri"/>
            </a:endParaRPr>
          </a:p>
        </p:txBody>
      </p:sp>
    </p:spTree>
    <p:extLst>
      <p:ext uri="{BB962C8B-B14F-4D97-AF65-F5344CB8AC3E}">
        <p14:creationId xmlns:p14="http://schemas.microsoft.com/office/powerpoint/2010/main" val="3363229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t>Vertical and Horizontal Swim Lanes</a:t>
            </a:r>
          </a:p>
        </p:txBody>
      </p:sp>
      <p:graphicFrame>
        <p:nvGraphicFramePr>
          <p:cNvPr id="8" name="Table 7"/>
          <p:cNvGraphicFramePr>
            <a:graphicFrameLocks noGrp="1"/>
          </p:cNvGraphicFramePr>
          <p:nvPr>
            <p:extLst>
              <p:ext uri="{D42A27DB-BD31-4B8C-83A1-F6EECF244321}">
                <p14:modId xmlns:p14="http://schemas.microsoft.com/office/powerpoint/2010/main" val="1113479724"/>
              </p:ext>
            </p:extLst>
          </p:nvPr>
        </p:nvGraphicFramePr>
        <p:xfrm>
          <a:off x="863374" y="2204865"/>
          <a:ext cx="3204570" cy="2597377"/>
        </p:xfrm>
        <a:graphic>
          <a:graphicData uri="http://schemas.openxmlformats.org/drawingml/2006/table">
            <a:tbl>
              <a:tblPr firstRow="1" bandRow="1">
                <a:tableStyleId>{5C22544A-7EE6-4342-B048-85BDC9FD1C3A}</a:tableStyleId>
              </a:tblPr>
              <a:tblGrid>
                <a:gridCol w="957976">
                  <a:extLst>
                    <a:ext uri="{9D8B030D-6E8A-4147-A177-3AD203B41FA5}">
                      <a16:colId xmlns:a16="http://schemas.microsoft.com/office/drawing/2014/main" val="20000"/>
                    </a:ext>
                  </a:extLst>
                </a:gridCol>
                <a:gridCol w="957976">
                  <a:extLst>
                    <a:ext uri="{9D8B030D-6E8A-4147-A177-3AD203B41FA5}">
                      <a16:colId xmlns:a16="http://schemas.microsoft.com/office/drawing/2014/main" val="20001"/>
                    </a:ext>
                  </a:extLst>
                </a:gridCol>
                <a:gridCol w="325346">
                  <a:extLst>
                    <a:ext uri="{9D8B030D-6E8A-4147-A177-3AD203B41FA5}">
                      <a16:colId xmlns:a16="http://schemas.microsoft.com/office/drawing/2014/main" val="20002"/>
                    </a:ext>
                  </a:extLst>
                </a:gridCol>
                <a:gridCol w="963272">
                  <a:extLst>
                    <a:ext uri="{9D8B030D-6E8A-4147-A177-3AD203B41FA5}">
                      <a16:colId xmlns:a16="http://schemas.microsoft.com/office/drawing/2014/main" val="20003"/>
                    </a:ext>
                  </a:extLst>
                </a:gridCol>
              </a:tblGrid>
              <a:tr h="336383">
                <a:tc>
                  <a:txBody>
                    <a:bodyPr/>
                    <a:lstStyle/>
                    <a:p>
                      <a:pPr algn="ctr"/>
                      <a:r>
                        <a:rPr lang="en-GB" sz="1400" dirty="0">
                          <a:solidFill>
                            <a:srgbClr val="FFFFFF"/>
                          </a:solidFill>
                        </a:rPr>
                        <a:t>Partition 1</a:t>
                      </a:r>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tx2">
                        <a:lumMod val="60000"/>
                        <a:lumOff val="40000"/>
                      </a:schemeClr>
                    </a:solidFill>
                  </a:tcPr>
                </a:tc>
                <a:tc>
                  <a:txBody>
                    <a:bodyPr/>
                    <a:lstStyle/>
                    <a:p>
                      <a:pPr algn="ctr"/>
                      <a:r>
                        <a:rPr lang="en-GB" sz="1400" dirty="0">
                          <a:solidFill>
                            <a:srgbClr val="FFFFFF"/>
                          </a:solidFill>
                        </a:rPr>
                        <a:t>Partition 2</a:t>
                      </a:r>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tx2">
                        <a:lumMod val="60000"/>
                        <a:lumOff val="40000"/>
                      </a:schemeClr>
                    </a:solidFill>
                  </a:tcPr>
                </a:tc>
                <a:tc>
                  <a:txBody>
                    <a:bodyPr/>
                    <a:lstStyle/>
                    <a:p>
                      <a:pPr algn="ctr"/>
                      <a:r>
                        <a:rPr lang="tr-TR" sz="1400" dirty="0">
                          <a:solidFill>
                            <a:srgbClr val="FFFFFF"/>
                          </a:solidFill>
                        </a:rPr>
                        <a:t>...</a:t>
                      </a:r>
                      <a:endParaRPr lang="en-GB" sz="1400" dirty="0">
                        <a:solidFill>
                          <a:srgbClr val="FFFFFF"/>
                        </a:solidFill>
                      </a:endParaRPr>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tx2">
                        <a:lumMod val="60000"/>
                        <a:lumOff val="40000"/>
                      </a:schemeClr>
                    </a:solidFill>
                  </a:tcPr>
                </a:tc>
                <a:tc>
                  <a:txBody>
                    <a:bodyPr/>
                    <a:lstStyle/>
                    <a:p>
                      <a:pPr algn="ctr"/>
                      <a:r>
                        <a:rPr lang="en-GB" sz="1400" dirty="0">
                          <a:solidFill>
                            <a:srgbClr val="FFFFFF"/>
                          </a:solidFill>
                        </a:rPr>
                        <a:t>Partition </a:t>
                      </a:r>
                      <a:r>
                        <a:rPr lang="tr-TR" sz="1400" dirty="0">
                          <a:solidFill>
                            <a:srgbClr val="FFFFFF"/>
                          </a:solidFill>
                        </a:rPr>
                        <a:t>n</a:t>
                      </a:r>
                      <a:endParaRPr lang="en-GB" sz="1400" dirty="0">
                        <a:solidFill>
                          <a:srgbClr val="FFFFFF"/>
                        </a:solidFill>
                      </a:endParaRPr>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2079217">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accent1">
                        <a:lumMod val="40000"/>
                        <a:lumOff val="60000"/>
                      </a:schemeClr>
                    </a:solidFill>
                  </a:tcPr>
                </a:tc>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accent1">
                        <a:lumMod val="40000"/>
                        <a:lumOff val="60000"/>
                      </a:schemeClr>
                    </a:solidFill>
                  </a:tcPr>
                </a:tc>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accent1">
                        <a:lumMod val="40000"/>
                        <a:lumOff val="60000"/>
                      </a:schemeClr>
                    </a:solidFill>
                  </a:tcPr>
                </a:tc>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11966213"/>
              </p:ext>
            </p:extLst>
          </p:nvPr>
        </p:nvGraphicFramePr>
        <p:xfrm>
          <a:off x="4427984" y="2204864"/>
          <a:ext cx="3257955" cy="2417360"/>
        </p:xfrm>
        <a:graphic>
          <a:graphicData uri="http://schemas.openxmlformats.org/drawingml/2006/table">
            <a:tbl>
              <a:tblPr firstRow="1" bandRow="1">
                <a:tableStyleId>{5C22544A-7EE6-4342-B048-85BDC9FD1C3A}</a:tableStyleId>
              </a:tblPr>
              <a:tblGrid>
                <a:gridCol w="963272">
                  <a:extLst>
                    <a:ext uri="{9D8B030D-6E8A-4147-A177-3AD203B41FA5}">
                      <a16:colId xmlns:a16="http://schemas.microsoft.com/office/drawing/2014/main" val="20000"/>
                    </a:ext>
                  </a:extLst>
                </a:gridCol>
                <a:gridCol w="2294683">
                  <a:extLst>
                    <a:ext uri="{9D8B030D-6E8A-4147-A177-3AD203B41FA5}">
                      <a16:colId xmlns:a16="http://schemas.microsoft.com/office/drawing/2014/main" val="20001"/>
                    </a:ext>
                  </a:extLst>
                </a:gridCol>
              </a:tblGrid>
              <a:tr h="604340">
                <a:tc>
                  <a:txBody>
                    <a:bodyPr/>
                    <a:lstStyle/>
                    <a:p>
                      <a:pPr algn="ctr"/>
                      <a:r>
                        <a:rPr lang="en-GB" sz="1400" b="1" dirty="0">
                          <a:solidFill>
                            <a:schemeClr val="bg1"/>
                          </a:solidFill>
                        </a:rPr>
                        <a:t>P</a:t>
                      </a:r>
                      <a:r>
                        <a:rPr lang="tr-TR" sz="1400" b="1" dirty="0">
                          <a:solidFill>
                            <a:schemeClr val="bg1"/>
                          </a:solidFill>
                        </a:rPr>
                        <a:t>artition</a:t>
                      </a:r>
                      <a:r>
                        <a:rPr lang="en-GB" sz="1400" b="1" dirty="0">
                          <a:solidFill>
                            <a:schemeClr val="bg1"/>
                          </a:solidFill>
                        </a:rPr>
                        <a:t> 1</a:t>
                      </a:r>
                    </a:p>
                  </a:txBody>
                  <a:tcPr anchor="ct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2D83F4"/>
                    </a:solidFill>
                  </a:tcPr>
                </a:tc>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ADE2FE"/>
                    </a:solidFill>
                  </a:tcPr>
                </a:tc>
                <a:extLst>
                  <a:ext uri="{0D108BD9-81ED-4DB2-BD59-A6C34878D82A}">
                    <a16:rowId xmlns:a16="http://schemas.microsoft.com/office/drawing/2014/main" val="10000"/>
                  </a:ext>
                </a:extLst>
              </a:tr>
              <a:tr h="604340">
                <a:tc>
                  <a:txBody>
                    <a:bodyPr/>
                    <a:lstStyle/>
                    <a:p>
                      <a:pPr algn="ctr"/>
                      <a:r>
                        <a:rPr lang="en-GB" sz="1400" b="1" dirty="0">
                          <a:solidFill>
                            <a:schemeClr val="bg1"/>
                          </a:solidFill>
                        </a:rPr>
                        <a:t>P</a:t>
                      </a:r>
                      <a:r>
                        <a:rPr lang="tr-TR" sz="1400" b="1" dirty="0">
                          <a:solidFill>
                            <a:schemeClr val="bg1"/>
                          </a:solidFill>
                        </a:rPr>
                        <a:t>artition</a:t>
                      </a:r>
                      <a:r>
                        <a:rPr lang="en-GB" sz="1400" b="1" dirty="0">
                          <a:solidFill>
                            <a:schemeClr val="bg1"/>
                          </a:solidFill>
                        </a:rPr>
                        <a:t> </a:t>
                      </a:r>
                      <a:r>
                        <a:rPr lang="tr-TR" sz="1400" b="1" dirty="0">
                          <a:solidFill>
                            <a:schemeClr val="bg1"/>
                          </a:solidFill>
                        </a:rPr>
                        <a:t>2</a:t>
                      </a:r>
                      <a:endParaRPr lang="en-GB" sz="1400" b="1" dirty="0">
                        <a:solidFill>
                          <a:schemeClr val="bg1"/>
                        </a:solidFill>
                      </a:endParaRPr>
                    </a:p>
                    <a:p>
                      <a:pPr algn="ctr"/>
                      <a:endParaRPr lang="en-GB" sz="1400" b="1" dirty="0">
                        <a:solidFill>
                          <a:schemeClr val="bg1"/>
                        </a:solidFill>
                      </a:endParaRPr>
                    </a:p>
                  </a:txBody>
                  <a:tcPr anchor="ct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2D83F4"/>
                    </a:solidFill>
                  </a:tcPr>
                </a:tc>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ADE2FE"/>
                    </a:solidFill>
                  </a:tcPr>
                </a:tc>
                <a:extLst>
                  <a:ext uri="{0D108BD9-81ED-4DB2-BD59-A6C34878D82A}">
                    <a16:rowId xmlns:a16="http://schemas.microsoft.com/office/drawing/2014/main" val="10001"/>
                  </a:ext>
                </a:extLst>
              </a:tr>
              <a:tr h="6043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sz="1400" b="1" dirty="0">
                          <a:solidFill>
                            <a:schemeClr val="bg1"/>
                          </a:solidFill>
                        </a:rPr>
                        <a:t>...</a:t>
                      </a:r>
                      <a:endParaRPr lang="en-GB" sz="1400" b="1" dirty="0">
                        <a:solidFill>
                          <a:schemeClr val="bg1"/>
                        </a:solidFill>
                      </a:endParaRPr>
                    </a:p>
                  </a:txBody>
                  <a:tcPr anchor="ct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2D83F4"/>
                    </a:solidFill>
                  </a:tcPr>
                </a:tc>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ADE2FE"/>
                    </a:solidFill>
                  </a:tcPr>
                </a:tc>
                <a:extLst>
                  <a:ext uri="{0D108BD9-81ED-4DB2-BD59-A6C34878D82A}">
                    <a16:rowId xmlns:a16="http://schemas.microsoft.com/office/drawing/2014/main" val="10002"/>
                  </a:ext>
                </a:extLst>
              </a:tr>
              <a:tr h="604340">
                <a:tc>
                  <a:txBody>
                    <a:bodyPr/>
                    <a:lstStyle/>
                    <a:p>
                      <a:pPr algn="ctr"/>
                      <a:r>
                        <a:rPr lang="en-GB" sz="1400" b="1" dirty="0">
                          <a:solidFill>
                            <a:schemeClr val="bg1"/>
                          </a:solidFill>
                        </a:rPr>
                        <a:t>P</a:t>
                      </a:r>
                      <a:r>
                        <a:rPr lang="tr-TR" sz="1400" b="1" dirty="0">
                          <a:solidFill>
                            <a:schemeClr val="bg1"/>
                          </a:solidFill>
                        </a:rPr>
                        <a:t>artition</a:t>
                      </a:r>
                      <a:r>
                        <a:rPr lang="en-GB" sz="1400" b="1" dirty="0">
                          <a:solidFill>
                            <a:schemeClr val="bg1"/>
                          </a:solidFill>
                        </a:rPr>
                        <a:t> </a:t>
                      </a:r>
                      <a:r>
                        <a:rPr lang="tr-TR" sz="1400" b="1" dirty="0">
                          <a:solidFill>
                            <a:schemeClr val="bg1"/>
                          </a:solidFill>
                        </a:rPr>
                        <a:t>n</a:t>
                      </a:r>
                      <a:endParaRPr lang="en-GB" sz="1400" b="1" dirty="0">
                        <a:solidFill>
                          <a:schemeClr val="bg1"/>
                        </a:solidFill>
                      </a:endParaRPr>
                    </a:p>
                  </a:txBody>
                  <a:tcPr anchor="ct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2D83F4"/>
                    </a:solidFill>
                  </a:tcPr>
                </a:tc>
                <a:tc>
                  <a:txBody>
                    <a:bodyPr/>
                    <a:lstStyle/>
                    <a:p>
                      <a:endParaRPr lang="en-GB" sz="1400" dirty="0"/>
                    </a:p>
                  </a:txBody>
                  <a:tcPr>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ADE2FE"/>
                    </a:solidFill>
                  </a:tcPr>
                </a:tc>
                <a:extLst>
                  <a:ext uri="{0D108BD9-81ED-4DB2-BD59-A6C34878D82A}">
                    <a16:rowId xmlns:a16="http://schemas.microsoft.com/office/drawing/2014/main" val="10003"/>
                  </a:ext>
                </a:extLst>
              </a:tr>
            </a:tbl>
          </a:graphicData>
        </a:graphic>
      </p:graphicFrame>
      <p:sp>
        <p:nvSpPr>
          <p:cNvPr id="3" name="Footer Placeholder 2"/>
          <p:cNvSpPr>
            <a:spLocks noGrp="1"/>
          </p:cNvSpPr>
          <p:nvPr>
            <p:ph type="ftr" sz="quarter" idx="11"/>
          </p:nvPr>
        </p:nvSpPr>
        <p:spPr/>
        <p:txBody>
          <a:bodyPr/>
          <a:lstStyle/>
          <a:p>
            <a:r>
              <a:rPr lang="en-US">
                <a:solidFill>
                  <a:srgbClr val="C6E7FC"/>
                </a:solidFill>
                <a:latin typeface="Calibri"/>
              </a:rPr>
              <a:t>Unified Modeling Language</a:t>
            </a:r>
          </a:p>
        </p:txBody>
      </p:sp>
      <p:sp>
        <p:nvSpPr>
          <p:cNvPr id="6" name="Slide Number Placeholder 5"/>
          <p:cNvSpPr>
            <a:spLocks noGrp="1"/>
          </p:cNvSpPr>
          <p:nvPr>
            <p:ph type="sldNum" sz="quarter" idx="12"/>
          </p:nvPr>
        </p:nvSpPr>
        <p:spPr/>
        <p:txBody>
          <a:bodyPr/>
          <a:lstStyle/>
          <a:p>
            <a:fld id="{4A822907-8A9D-4F6B-98F6-913902AD56B5}" type="slidenum">
              <a:rPr lang="en-US" smtClean="0">
                <a:latin typeface="Calibri"/>
              </a:rPr>
              <a:pPr/>
              <a:t>28</a:t>
            </a:fld>
            <a:endParaRPr lang="en-US">
              <a:latin typeface="Calibri"/>
            </a:endParaRPr>
          </a:p>
        </p:txBody>
      </p:sp>
    </p:spTree>
    <p:extLst>
      <p:ext uri="{BB962C8B-B14F-4D97-AF65-F5344CB8AC3E}">
        <p14:creationId xmlns:p14="http://schemas.microsoft.com/office/powerpoint/2010/main" val="6861199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Swim Lane Features</a:t>
            </a:r>
          </a:p>
        </p:txBody>
      </p:sp>
      <p:sp>
        <p:nvSpPr>
          <p:cNvPr id="7" name="Content Placeholder 6"/>
          <p:cNvSpPr>
            <a:spLocks noGrp="1"/>
          </p:cNvSpPr>
          <p:nvPr>
            <p:ph idx="1"/>
          </p:nvPr>
        </p:nvSpPr>
        <p:spPr/>
        <p:txBody>
          <a:bodyPr>
            <a:normAutofit/>
          </a:bodyPr>
          <a:lstStyle/>
          <a:p>
            <a:pPr algn="just"/>
            <a:r>
              <a:rPr lang="en-GB" sz="2000" dirty="0"/>
              <a:t>These are the features of swim lanes:</a:t>
            </a:r>
          </a:p>
          <a:p>
            <a:pPr lvl="1" algn="just"/>
            <a:r>
              <a:rPr lang="en-US" sz="1800" i="1" dirty="0">
                <a:solidFill>
                  <a:schemeClr val="tx2">
                    <a:lumMod val="60000"/>
                    <a:lumOff val="40000"/>
                  </a:schemeClr>
                </a:solidFill>
              </a:rPr>
              <a:t>Each action is assigned to one swim lane.</a:t>
            </a:r>
          </a:p>
          <a:p>
            <a:pPr lvl="1" algn="just"/>
            <a:r>
              <a:rPr lang="en-US" sz="1800" i="1" dirty="0">
                <a:solidFill>
                  <a:schemeClr val="tx2">
                    <a:lumMod val="60000"/>
                    <a:lumOff val="40000"/>
                  </a:schemeClr>
                </a:solidFill>
              </a:rPr>
              <a:t>Activity flows can cross lanes.</a:t>
            </a:r>
          </a:p>
          <a:p>
            <a:pPr lvl="1" algn="just"/>
            <a:r>
              <a:rPr lang="en-US" sz="1800" i="1" dirty="0">
                <a:solidFill>
                  <a:schemeClr val="tx2">
                    <a:lumMod val="60000"/>
                    <a:lumOff val="40000"/>
                  </a:schemeClr>
                </a:solidFill>
              </a:rPr>
              <a:t>Swim lanes do not change ownership hierarchy.</a:t>
            </a:r>
          </a:p>
          <a:p>
            <a:pPr lvl="1" algn="just"/>
            <a:r>
              <a:rPr lang="en-US" sz="1800" i="1" dirty="0">
                <a:solidFill>
                  <a:schemeClr val="tx2">
                    <a:lumMod val="60000"/>
                    <a:lumOff val="40000"/>
                  </a:schemeClr>
                </a:solidFill>
              </a:rPr>
              <a:t>Swim lane association (representing field population) to a class (only) can be created by dragging the class from the browser to the swim lane name compartment.</a:t>
            </a:r>
          </a:p>
          <a:p>
            <a:pPr lvl="1" algn="just"/>
            <a:r>
              <a:rPr lang="en-US" sz="1800" i="1" dirty="0">
                <a:solidFill>
                  <a:schemeClr val="tx2">
                    <a:lumMod val="60000"/>
                    <a:lumOff val="40000"/>
                  </a:schemeClr>
                </a:solidFill>
              </a:rPr>
              <a:t>The relative ordering of swim lanes has no semantic significance.</a:t>
            </a:r>
          </a:p>
          <a:p>
            <a:pPr lvl="1" algn="just"/>
            <a:r>
              <a:rPr lang="en-US" sz="1800" i="1" dirty="0">
                <a:solidFill>
                  <a:schemeClr val="tx2">
                    <a:lumMod val="60000"/>
                    <a:lumOff val="40000"/>
                  </a:schemeClr>
                </a:solidFill>
              </a:rPr>
              <a:t>There is no significance to the routing of an activity flow path.</a:t>
            </a:r>
          </a:p>
          <a:p>
            <a:pPr lvl="1" algn="just"/>
            <a:r>
              <a:rPr lang="en-US" sz="1800" i="1" dirty="0">
                <a:solidFill>
                  <a:schemeClr val="tx2">
                    <a:lumMod val="60000"/>
                    <a:lumOff val="40000"/>
                  </a:schemeClr>
                </a:solidFill>
              </a:rPr>
              <a:t>Parts representing internal behavior can be specified on swim lanes.</a:t>
            </a:r>
          </a:p>
        </p:txBody>
      </p:sp>
      <p:sp>
        <p:nvSpPr>
          <p:cNvPr id="2" name="Footer Placeholder 1"/>
          <p:cNvSpPr>
            <a:spLocks noGrp="1"/>
          </p:cNvSpPr>
          <p:nvPr>
            <p:ph type="ftr" sz="quarter" idx="11"/>
          </p:nvPr>
        </p:nvSpPr>
        <p:spPr/>
        <p:txBody>
          <a:bodyPr/>
          <a:lstStyle/>
          <a:p>
            <a:r>
              <a:rPr lang="en-US">
                <a:solidFill>
                  <a:srgbClr val="C6E7FC"/>
                </a:solidFill>
                <a:latin typeface="Calibri"/>
              </a:rPr>
              <a:t>Unified Modeling Language</a:t>
            </a:r>
          </a:p>
        </p:txBody>
      </p:sp>
      <p:sp>
        <p:nvSpPr>
          <p:cNvPr id="3" name="Slide Number Placeholder 2"/>
          <p:cNvSpPr>
            <a:spLocks noGrp="1"/>
          </p:cNvSpPr>
          <p:nvPr>
            <p:ph type="sldNum" sz="quarter" idx="12"/>
          </p:nvPr>
        </p:nvSpPr>
        <p:spPr/>
        <p:txBody>
          <a:bodyPr/>
          <a:lstStyle/>
          <a:p>
            <a:fld id="{4A822907-8A9D-4F6B-98F6-913902AD56B5}" type="slidenum">
              <a:rPr lang="en-US" smtClean="0">
                <a:latin typeface="Calibri"/>
              </a:rPr>
              <a:pPr/>
              <a:t>29</a:t>
            </a:fld>
            <a:endParaRPr lang="en-US">
              <a:latin typeface="Calibri"/>
            </a:endParaRPr>
          </a:p>
        </p:txBody>
      </p:sp>
    </p:spTree>
    <p:extLst>
      <p:ext uri="{BB962C8B-B14F-4D97-AF65-F5344CB8AC3E}">
        <p14:creationId xmlns:p14="http://schemas.microsoft.com/office/powerpoint/2010/main" val="1896069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solidFill>
                  <a:srgbClr val="C6E7FC"/>
                </a:solidFill>
                <a:latin typeface="Calibri"/>
              </a:rPr>
              <a:t>Unified Modeling Language</a:t>
            </a:r>
          </a:p>
        </p:txBody>
      </p:sp>
      <p:sp>
        <p:nvSpPr>
          <p:cNvPr id="7" name="Slide Number Placeholder 6"/>
          <p:cNvSpPr>
            <a:spLocks noGrp="1"/>
          </p:cNvSpPr>
          <p:nvPr>
            <p:ph type="sldNum" sz="quarter" idx="12"/>
          </p:nvPr>
        </p:nvSpPr>
        <p:spPr/>
        <p:txBody>
          <a:bodyPr/>
          <a:lstStyle/>
          <a:p>
            <a:fld id="{4A822907-8A9D-4F6B-98F6-913902AD56B5}" type="slidenum">
              <a:rPr lang="en-US" smtClean="0">
                <a:latin typeface="Calibri"/>
              </a:rPr>
              <a:pPr/>
              <a:t>30</a:t>
            </a:fld>
            <a:endParaRPr lang="en-US">
              <a:latin typeface="Calibri"/>
            </a:endParaRPr>
          </a:p>
        </p:txBody>
      </p:sp>
      <p:pic>
        <p:nvPicPr>
          <p:cNvPr id="1026" name="Picture 2" descr="C:\Users\Musty\Desktop\AD-E2.jpg"/>
          <p:cNvPicPr>
            <a:picLocks noChangeAspect="1" noChangeArrowheads="1"/>
          </p:cNvPicPr>
          <p:nvPr/>
        </p:nvPicPr>
        <p:blipFill>
          <a:blip r:embed="rId3" cstate="print"/>
          <a:srcRect/>
          <a:stretch>
            <a:fillRect/>
          </a:stretch>
        </p:blipFill>
        <p:spPr bwMode="auto">
          <a:xfrm>
            <a:off x="2879812" y="188640"/>
            <a:ext cx="3384376" cy="6579043"/>
          </a:xfrm>
          <a:prstGeom prst="rect">
            <a:avLst/>
          </a:prstGeom>
          <a:noFill/>
        </p:spPr>
      </p:pic>
    </p:spTree>
    <p:extLst>
      <p:ext uri="{BB962C8B-B14F-4D97-AF65-F5344CB8AC3E}">
        <p14:creationId xmlns:p14="http://schemas.microsoft.com/office/powerpoint/2010/main" val="283396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A31B97-B6E9-F416-17FF-306AB7D0EAB4}"/>
              </a:ext>
            </a:extLst>
          </p:cNvPr>
          <p:cNvSpPr>
            <a:spLocks noGrp="1"/>
          </p:cNvSpPr>
          <p:nvPr>
            <p:ph type="title"/>
          </p:nvPr>
        </p:nvSpPr>
        <p:spPr/>
        <p:txBody>
          <a:bodyPr/>
          <a:lstStyle/>
          <a:p>
            <a:r>
              <a:rPr lang="en-US" dirty="0"/>
              <a:t>Activity Diagram – Story #1</a:t>
            </a:r>
          </a:p>
        </p:txBody>
      </p:sp>
      <p:sp>
        <p:nvSpPr>
          <p:cNvPr id="5" name="Content Placeholder 4">
            <a:extLst>
              <a:ext uri="{FF2B5EF4-FFF2-40B4-BE49-F238E27FC236}">
                <a16:creationId xmlns:a16="http://schemas.microsoft.com/office/drawing/2014/main" id="{3D0A6835-18B2-D5A4-3F85-D0322C761C75}"/>
              </a:ext>
            </a:extLst>
          </p:cNvPr>
          <p:cNvSpPr>
            <a:spLocks noGrp="1"/>
          </p:cNvSpPr>
          <p:nvPr>
            <p:ph idx="1"/>
          </p:nvPr>
        </p:nvSpPr>
        <p:spPr/>
        <p:txBody>
          <a:bodyPr>
            <a:normAutofit fontScale="92500" lnSpcReduction="20000"/>
          </a:bodyPr>
          <a:lstStyle/>
          <a:p>
            <a:r>
              <a:rPr lang="en-US" dirty="0"/>
              <a:t>Campus Print Shop — Printing a Document</a:t>
            </a:r>
          </a:p>
          <a:p>
            <a:endParaRPr lang="en-US" dirty="0"/>
          </a:p>
          <a:p>
            <a:r>
              <a:rPr lang="en-US" dirty="0"/>
              <a:t>A student arrives at the university print shop to print a report. The student chooses print options (pages, duplex, color). If the file format is incompatible, the student asks the print operator to convert it; afterward, the flow returns to option selection. If the student changes their mind before paying, the request is canceled.</a:t>
            </a:r>
          </a:p>
          <a:p>
            <a:endParaRPr lang="en-US" dirty="0"/>
          </a:p>
          <a:p>
            <a:r>
              <a:rPr lang="en-US" dirty="0"/>
              <a:t>If proceeding, the operator must ensure the printer is ready (paper/toner), while the cashier collects payment. These two tasks happen in parallel and must both complete before printing starts. After payment and preparation are done, the operator starts the print job. If a recoverable printer error occurs (e.g., paper jam), the operator attempts a fix and, if successful, completes the job. If not recoverable, a refund is issued and only that flow ends (final flow). If printing succeeds, the student collects the pages and the activity ends.</a:t>
            </a:r>
          </a:p>
          <a:p>
            <a:endParaRPr lang="en-US" dirty="0"/>
          </a:p>
          <a:p>
            <a:endParaRPr lang="en-US" dirty="0"/>
          </a:p>
        </p:txBody>
      </p:sp>
      <p:sp>
        <p:nvSpPr>
          <p:cNvPr id="2" name="Footer Placeholder 1">
            <a:extLst>
              <a:ext uri="{FF2B5EF4-FFF2-40B4-BE49-F238E27FC236}">
                <a16:creationId xmlns:a16="http://schemas.microsoft.com/office/drawing/2014/main" id="{2560D004-17F2-7092-0139-912C514492DB}"/>
              </a:ext>
            </a:extLst>
          </p:cNvPr>
          <p:cNvSpPr>
            <a:spLocks noGrp="1"/>
          </p:cNvSpPr>
          <p:nvPr>
            <p:ph type="ftr" sz="quarter" idx="11"/>
          </p:nvPr>
        </p:nvSpPr>
        <p:spPr/>
        <p:txBody>
          <a:bodyPr/>
          <a:lstStyle/>
          <a:p>
            <a:r>
              <a:rPr lang="en-US">
                <a:solidFill>
                  <a:srgbClr val="C6E7FC"/>
                </a:solidFill>
                <a:latin typeface="Calibri"/>
              </a:rPr>
              <a:t>Unified Modeling Language</a:t>
            </a:r>
          </a:p>
        </p:txBody>
      </p:sp>
      <p:sp>
        <p:nvSpPr>
          <p:cNvPr id="3" name="Slide Number Placeholder 2">
            <a:extLst>
              <a:ext uri="{FF2B5EF4-FFF2-40B4-BE49-F238E27FC236}">
                <a16:creationId xmlns:a16="http://schemas.microsoft.com/office/drawing/2014/main" id="{E18C5DE4-9462-C9B1-0945-6321CC409A1A}"/>
              </a:ext>
            </a:extLst>
          </p:cNvPr>
          <p:cNvSpPr>
            <a:spLocks noGrp="1"/>
          </p:cNvSpPr>
          <p:nvPr>
            <p:ph type="sldNum" sz="quarter" idx="12"/>
          </p:nvPr>
        </p:nvSpPr>
        <p:spPr/>
        <p:txBody>
          <a:bodyPr/>
          <a:lstStyle/>
          <a:p>
            <a:fld id="{4A822907-8A9D-4F6B-98F6-913902AD56B5}" type="slidenum">
              <a:rPr lang="en-US" smtClean="0">
                <a:latin typeface="Calibri"/>
              </a:rPr>
              <a:pPr/>
              <a:t>31</a:t>
            </a:fld>
            <a:endParaRPr lang="en-US">
              <a:latin typeface="Calibri"/>
            </a:endParaRPr>
          </a:p>
        </p:txBody>
      </p:sp>
    </p:spTree>
    <p:extLst>
      <p:ext uri="{BB962C8B-B14F-4D97-AF65-F5344CB8AC3E}">
        <p14:creationId xmlns:p14="http://schemas.microsoft.com/office/powerpoint/2010/main" val="195935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F3778-7C2F-420D-0166-4674D8D7C6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65B906-E480-F25E-0756-3878A6F169E5}"/>
              </a:ext>
            </a:extLst>
          </p:cNvPr>
          <p:cNvSpPr>
            <a:spLocks noGrp="1"/>
          </p:cNvSpPr>
          <p:nvPr>
            <p:ph type="title"/>
          </p:nvPr>
        </p:nvSpPr>
        <p:spPr/>
        <p:txBody>
          <a:bodyPr/>
          <a:lstStyle/>
          <a:p>
            <a:r>
              <a:rPr lang="en-US" dirty="0"/>
              <a:t>Activity Diagram – Story #2</a:t>
            </a:r>
          </a:p>
        </p:txBody>
      </p:sp>
      <p:sp>
        <p:nvSpPr>
          <p:cNvPr id="5" name="Content Placeholder 4">
            <a:extLst>
              <a:ext uri="{FF2B5EF4-FFF2-40B4-BE49-F238E27FC236}">
                <a16:creationId xmlns:a16="http://schemas.microsoft.com/office/drawing/2014/main" id="{89EBC5B1-027B-7DB9-1668-2095445B57E8}"/>
              </a:ext>
            </a:extLst>
          </p:cNvPr>
          <p:cNvSpPr>
            <a:spLocks noGrp="1"/>
          </p:cNvSpPr>
          <p:nvPr>
            <p:ph idx="1"/>
          </p:nvPr>
        </p:nvSpPr>
        <p:spPr/>
        <p:txBody>
          <a:bodyPr>
            <a:normAutofit fontScale="62500" lnSpcReduction="20000"/>
          </a:bodyPr>
          <a:lstStyle/>
          <a:p>
            <a:endParaRPr lang="en-US" dirty="0"/>
          </a:p>
          <a:p>
            <a:r>
              <a:rPr lang="en-US" dirty="0"/>
              <a:t>Course Registration with Advisor Approval &amp; Fee Handling</a:t>
            </a:r>
          </a:p>
          <a:p>
            <a:endParaRPr lang="en-US" dirty="0"/>
          </a:p>
          <a:p>
            <a:r>
              <a:rPr lang="en-US" dirty="0"/>
              <a:t>A student prepares to register for a course. The student selects courses and checks whether the total credits would exceed the regular limit. If over the limit, the student prepares an overload petition for the advisor; otherwise, they proceed normally. The student submits the registration request to the advisor.</a:t>
            </a:r>
          </a:p>
          <a:p>
            <a:endParaRPr lang="en-US" dirty="0"/>
          </a:p>
          <a:p>
            <a:r>
              <a:rPr lang="en-US" dirty="0"/>
              <a:t>After submission, two processes happen in parallel:</a:t>
            </a:r>
          </a:p>
          <a:p>
            <a:endParaRPr lang="en-US" dirty="0"/>
          </a:p>
          <a:p>
            <a:r>
              <a:rPr lang="en-US" dirty="0"/>
              <a:t>Advisor branch: The advisor reviews prerequisites and schedule conflicts. If issues are found, the advisor rejects the request and only that flow ends (final flow). If everything is fine, the advisor approves.</a:t>
            </a:r>
          </a:p>
          <a:p>
            <a:endParaRPr lang="en-US" dirty="0"/>
          </a:p>
          <a:p>
            <a:r>
              <a:rPr lang="en-US" dirty="0"/>
              <a:t>Accounting branch: The accounting office checks whether any extra course/overload fee applies or if there is an outstanding balance. If a fee is required, the student pays. If payment fails, only that flow ends (final flow). If no fee is required or payment succeeds, this branch completes.</a:t>
            </a:r>
          </a:p>
          <a:p>
            <a:endParaRPr lang="en-US" dirty="0"/>
          </a:p>
          <a:p>
            <a:r>
              <a:rPr lang="en-US" dirty="0"/>
              <a:t>Once both the advisor has approved and the fee branch is clear, the registrar enrolls the student. If the section is already full, the registrar places the student on a waitlist (activity ends). If there is a seat, the enrollment is finalized and the student is notified (activity ends).</a:t>
            </a:r>
          </a:p>
        </p:txBody>
      </p:sp>
      <p:sp>
        <p:nvSpPr>
          <p:cNvPr id="2" name="Footer Placeholder 1">
            <a:extLst>
              <a:ext uri="{FF2B5EF4-FFF2-40B4-BE49-F238E27FC236}">
                <a16:creationId xmlns:a16="http://schemas.microsoft.com/office/drawing/2014/main" id="{49AD8046-05A6-2089-45AB-44CBF8C223FF}"/>
              </a:ext>
            </a:extLst>
          </p:cNvPr>
          <p:cNvSpPr>
            <a:spLocks noGrp="1"/>
          </p:cNvSpPr>
          <p:nvPr>
            <p:ph type="ftr" sz="quarter" idx="11"/>
          </p:nvPr>
        </p:nvSpPr>
        <p:spPr/>
        <p:txBody>
          <a:bodyPr/>
          <a:lstStyle/>
          <a:p>
            <a:r>
              <a:rPr lang="en-US">
                <a:solidFill>
                  <a:srgbClr val="C6E7FC"/>
                </a:solidFill>
                <a:latin typeface="Calibri"/>
              </a:rPr>
              <a:t>Unified Modeling Language</a:t>
            </a:r>
          </a:p>
        </p:txBody>
      </p:sp>
      <p:sp>
        <p:nvSpPr>
          <p:cNvPr id="3" name="Slide Number Placeholder 2">
            <a:extLst>
              <a:ext uri="{FF2B5EF4-FFF2-40B4-BE49-F238E27FC236}">
                <a16:creationId xmlns:a16="http://schemas.microsoft.com/office/drawing/2014/main" id="{4F38F69F-14C8-4898-2920-5B982488BEC3}"/>
              </a:ext>
            </a:extLst>
          </p:cNvPr>
          <p:cNvSpPr>
            <a:spLocks noGrp="1"/>
          </p:cNvSpPr>
          <p:nvPr>
            <p:ph type="sldNum" sz="quarter" idx="12"/>
          </p:nvPr>
        </p:nvSpPr>
        <p:spPr/>
        <p:txBody>
          <a:bodyPr/>
          <a:lstStyle/>
          <a:p>
            <a:fld id="{4A822907-8A9D-4F6B-98F6-913902AD56B5}" type="slidenum">
              <a:rPr lang="en-US" smtClean="0">
                <a:latin typeface="Calibri"/>
              </a:rPr>
              <a:pPr/>
              <a:t>32</a:t>
            </a:fld>
            <a:endParaRPr lang="en-US">
              <a:latin typeface="Calibri"/>
            </a:endParaRPr>
          </a:p>
        </p:txBody>
      </p:sp>
    </p:spTree>
    <p:extLst>
      <p:ext uri="{BB962C8B-B14F-4D97-AF65-F5344CB8AC3E}">
        <p14:creationId xmlns:p14="http://schemas.microsoft.com/office/powerpoint/2010/main" val="4244959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2862</TotalTime>
  <Words>3642</Words>
  <Application>Microsoft Office PowerPoint</Application>
  <PresentationFormat>On-screen Show (4:3)</PresentationFormat>
  <Paragraphs>413</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Lucida Grande</vt:lpstr>
      <vt:lpstr>Adjacency</vt:lpstr>
      <vt:lpstr>Activity Diagrams</vt:lpstr>
      <vt:lpstr>Activity Diagrams Overview</vt:lpstr>
      <vt:lpstr>Activity Diagrams Overview - 2</vt:lpstr>
      <vt:lpstr>Activity Diagrams Overview - 3</vt:lpstr>
      <vt:lpstr>Activity Diagrams Overview - 4</vt:lpstr>
      <vt:lpstr>Activity Diagrams Overview - 5</vt:lpstr>
      <vt:lpstr>Activity Diagrams Overview - 6</vt:lpstr>
      <vt:lpstr>Activity Diagrams Overview - 7</vt:lpstr>
      <vt:lpstr>Activities</vt:lpstr>
      <vt:lpstr>Activities - 2</vt:lpstr>
      <vt:lpstr>Actions</vt:lpstr>
      <vt:lpstr>Actions - 2</vt:lpstr>
      <vt:lpstr>Objects</vt:lpstr>
      <vt:lpstr>Edges (Flows) </vt:lpstr>
      <vt:lpstr>Control and Object Flow (Edge)</vt:lpstr>
      <vt:lpstr>Parameter Nodes</vt:lpstr>
      <vt:lpstr>Activity Initial, Final and Flow Final Nodes</vt:lpstr>
      <vt:lpstr>Decision and Merge Nodes</vt:lpstr>
      <vt:lpstr>Decision and Merge Nodes - 2</vt:lpstr>
      <vt:lpstr>Fork and Join Nodes</vt:lpstr>
      <vt:lpstr>Fork and Join Nodes - 2</vt:lpstr>
      <vt:lpstr>Fork and Join Nodes - 3</vt:lpstr>
      <vt:lpstr>Calling Other Activities</vt:lpstr>
      <vt:lpstr>Calling Other Activities - 2</vt:lpstr>
      <vt:lpstr>Explanation of the Previous Diagram</vt:lpstr>
      <vt:lpstr>Swim Lanes (Activity Partition)</vt:lpstr>
      <vt:lpstr>Swim Lanes (Activity Partition) - 2</vt:lpstr>
      <vt:lpstr>Vertical and Horizontal Swim Lanes</vt:lpstr>
      <vt:lpstr>Swim Lane Features</vt:lpstr>
      <vt:lpstr>PowerPoint Presentation</vt:lpstr>
      <vt:lpstr>Activity Diagram – Story #1</vt:lpstr>
      <vt:lpstr>Activity Diagram – Story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Diagrams</dc:title>
  <dc:creator>Mustafa Büyükkeçeci</dc:creator>
  <cp:lastModifiedBy>AYBÜKE KEÇECİ KANMAZ</cp:lastModifiedBy>
  <cp:revision>255</cp:revision>
  <cp:lastPrinted>2011-11-30T17:53:23Z</cp:lastPrinted>
  <dcterms:created xsi:type="dcterms:W3CDTF">2010-02-20T15:28:56Z</dcterms:created>
  <dcterms:modified xsi:type="dcterms:W3CDTF">2025-10-21T05:38:03Z</dcterms:modified>
</cp:coreProperties>
</file>